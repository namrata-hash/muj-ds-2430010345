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0B1F2A"/>
            </a:solidFill>
            <a:effectLst/>
          </c:spPr>
          <c:invertIfNegative val="0"/>
          <c:dLbls>
            <c:numFmt formatCode="0.0" sourceLinked="0"/>
            <c:txPr>
              <a:bodyPr/>
              <a:lstStyle/>
              <a:p>
                <a:pPr>
                  <a:defRPr b="0" i="0" strike="noStrike" sz="1000" u="none">
                    <a:solidFill>
                      <a:srgbClr val="1B27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DNN</c:v>
                  </c:pt>
                  <c:pt idx="1">
                    <c:v>DNN+Dropout</c:v>
                  </c:pt>
                  <c:pt idx="2">
                    <c:v>DNN+L2</c:v>
                  </c:pt>
                  <c:pt idx="3">
                    <c:v>Proposed DNN</c:v>
                  </c:pt>
                  <c:pt idx="4">
                    <c:v>GRU</c:v>
                  </c:pt>
                  <c:pt idx="5">
                    <c:v>LSTM</c:v>
                  </c:pt>
                  <c:pt idx="6">
                    <c:v>Transformer</c:v>
                  </c:pt>
                </c:lvl>
              </c:multiLvlStrCache>
            </c:multiLvlStrRef>
          </c:cat>
          <c:val>
            <c:numRef>
              <c:f>Sheet1!$B$2:$B$8</c:f>
              <c:numCache>
                <c:formatCode>General</c:formatCode>
                <c:ptCount val="7"/>
                <c:pt idx="0">
                  <c:v>75.44</c:v>
                </c:pt>
                <c:pt idx="1">
                  <c:v>73.73</c:v>
                </c:pt>
                <c:pt idx="2">
                  <c:v>75.08</c:v>
                </c:pt>
                <c:pt idx="3">
                  <c:v>74.07</c:v>
                </c:pt>
                <c:pt idx="4">
                  <c:v>69.82</c:v>
                </c:pt>
                <c:pt idx="5">
                  <c:v>55.24</c:v>
                </c:pt>
                <c:pt idx="6">
                  <c:v>72.53</c:v>
                </c:pt>
              </c:numCache>
            </c:numRef>
          </c:val>
        </c:ser>
        <c:ser>
          <c:idx val="1"/>
          <c:order val="1"/>
          <c:tx>
            <c:strRef>
              <c:f>Sheet1!$C$1</c:f>
              <c:strCache>
                <c:ptCount val="1"/>
                <c:pt idx="0">
                  <c:v>Macro F1 (%)</c:v>
                </c:pt>
              </c:strCache>
            </c:strRef>
          </c:tx>
          <c:spPr>
            <a:solidFill>
              <a:srgbClr val="1AA89A"/>
            </a:solidFill>
            <a:effectLst/>
          </c:spPr>
          <c:invertIfNegative val="0"/>
          <c:dLbls>
            <c:numFmt formatCode="0.0" sourceLinked="0"/>
            <c:txPr>
              <a:bodyPr/>
              <a:lstStyle/>
              <a:p>
                <a:pPr>
                  <a:defRPr b="0" i="0" strike="noStrike" sz="1000" u="none">
                    <a:solidFill>
                      <a:srgbClr val="1B27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DNN</c:v>
                  </c:pt>
                  <c:pt idx="1">
                    <c:v>DNN+Dropout</c:v>
                  </c:pt>
                  <c:pt idx="2">
                    <c:v>DNN+L2</c:v>
                  </c:pt>
                  <c:pt idx="3">
                    <c:v>Proposed DNN</c:v>
                  </c:pt>
                  <c:pt idx="4">
                    <c:v>GRU</c:v>
                  </c:pt>
                  <c:pt idx="5">
                    <c:v>LSTM</c:v>
                  </c:pt>
                  <c:pt idx="6">
                    <c:v>Transformer</c:v>
                  </c:pt>
                </c:lvl>
              </c:multiLvlStrCache>
            </c:multiLvlStrRef>
          </c:cat>
          <c:val>
            <c:numRef>
              <c:f>Sheet1!$C$2:$C$8</c:f>
              <c:numCache>
                <c:formatCode>General</c:formatCode>
                <c:ptCount val="7"/>
                <c:pt idx="0">
                  <c:v>63.46</c:v>
                </c:pt>
                <c:pt idx="1">
                  <c:v>62.1</c:v>
                </c:pt>
                <c:pt idx="2">
                  <c:v>63.05</c:v>
                </c:pt>
                <c:pt idx="3">
                  <c:v>62.26</c:v>
                </c:pt>
                <c:pt idx="4">
                  <c:v>58.68</c:v>
                </c:pt>
                <c:pt idx="5">
                  <c:v>45.71</c:v>
                </c:pt>
                <c:pt idx="6">
                  <c:v>62.63</c:v>
                </c:pt>
              </c:numCache>
            </c:numRef>
          </c:val>
        </c:ser>
        <c:dLbls>
          <c:numFmt formatCode="0.0" sourceLinked="0"/>
          <c:txPr>
            <a:bodyPr/>
            <a:lstStyle/>
            <a:p>
              <a:pPr>
                <a:defRPr b="0" i="0" strike="noStrike" sz="1000" u="none">
                  <a:solidFill>
                    <a:srgbClr val="1B27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7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Training time (s)</c:v>
                </c:pt>
              </c:strCache>
            </c:strRef>
          </c:tx>
          <c:spPr>
            <a:solidFill>
              <a:srgbClr val="1AA89A"/>
            </a:solidFill>
            <a:effectLst/>
          </c:spPr>
          <c:invertIfNegative val="0"/>
          <c:dLbls>
            <c:numFmt formatCode="#,##0.0" sourceLinked="0"/>
            <c:txPr>
              <a:bodyPr/>
              <a:lstStyle/>
              <a:p>
                <a:pPr>
                  <a:defRPr b="0" i="0" strike="noStrike" sz="1100" u="none">
                    <a:solidFill>
                      <a:srgbClr val="1B27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DNN + L2</c:v>
                  </c:pt>
                  <c:pt idx="1">
                    <c:v>DNN</c:v>
                  </c:pt>
                  <c:pt idx="2">
                    <c:v>DNN+Dropout</c:v>
                  </c:pt>
                  <c:pt idx="3">
                    <c:v>Proposed DNN</c:v>
                  </c:pt>
                  <c:pt idx="4">
                    <c:v>LSTM</c:v>
                  </c:pt>
                  <c:pt idx="5">
                    <c:v>GRU</c:v>
                  </c:pt>
                  <c:pt idx="6">
                    <c:v>Transformer</c:v>
                  </c:pt>
                </c:lvl>
              </c:multiLvlStrCache>
            </c:multiLvlStrRef>
          </c:cat>
          <c:val>
            <c:numRef>
              <c:f>Sheet1!$B$2:$B$8</c:f>
              <c:numCache>
                <c:formatCode>General</c:formatCode>
                <c:ptCount val="7"/>
                <c:pt idx="0">
                  <c:v>18.46</c:v>
                </c:pt>
                <c:pt idx="1">
                  <c:v>19.48</c:v>
                </c:pt>
                <c:pt idx="2">
                  <c:v>21.84</c:v>
                </c:pt>
                <c:pt idx="3">
                  <c:v>25.7</c:v>
                </c:pt>
                <c:pt idx="4">
                  <c:v>173.61</c:v>
                </c:pt>
                <c:pt idx="5">
                  <c:v>668.69</c:v>
                </c:pt>
                <c:pt idx="6">
                  <c:v>3497.91</c:v>
                </c:pt>
              </c:numCache>
            </c:numRef>
          </c:val>
        </c:ser>
        <c:dLbls>
          <c:numFmt formatCode="#,##0.0" sourceLinked="0"/>
          <c:txPr>
            <a:bodyPr/>
            <a:lstStyle/>
            <a:p>
              <a:pPr>
                <a:defRPr b="0" i="0" strike="noStrike" sz="1100" u="none">
                  <a:solidFill>
                    <a:srgbClr val="1B27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733"/>
                </a:solidFill>
                <a:latin typeface="Calibri"/>
              </a:defRPr>
            </a:pPr>
            <a:endParaRPr lang="en-US"/>
          </a:p>
        </c:txPr>
        <c:crossAx val="2094734552"/>
        <c:crosses val="autoZero"/>
        <c:auto val="1"/>
        <c:lblAlgn val="ctr"/>
        <c:noMultiLvlLbl val="1"/>
      </c:catAx>
      <c:valAx>
        <c:axId val="2094734552"/>
        <c:scaling>
          <c:logBase val="10"/>
          <c:orientation val="minMax"/>
          <c:max val="10000"/>
          <c:min val="1"/>
        </c:scaling>
        <c:delete val="0"/>
        <c:axPos val="b"/>
        <c:majorGridlines>
          <c:spPr>
            <a:ln w="6350" cap="flat">
              <a:solidFill>
                <a:srgbClr val="E3EAEE"/>
              </a:solidFill>
              <a:prstDash val="solid"/>
              <a:round/>
            </a:ln>
          </c:spPr>
        </c:majorGridlines>
        <c:title>
          <c:tx>
            <c:rich>
              <a:bodyPr/>
              <a:lstStyle/>
              <a:p>
                <a:pPr>
                  <a:defRPr sz="1100" b="0" i="0" u="none" strike="noStrike">
                    <a:solidFill>
                      <a:srgbClr val="5B6B79"/>
                    </a:solidFill>
                    <a:latin typeface="Calibri"/>
                  </a:defRPr>
                </a:pPr>
                <a:r>
                  <a:rPr sz="1100" b="0" i="0" u="none" strike="noStrike">
                    <a:solidFill>
                      <a:srgbClr val="5B6B79"/>
                    </a:solidFill>
                    <a:latin typeface="Calibri"/>
                  </a:rPr>
                  <a:t>seconds (log scale)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DNN</c:v>
                </c:pt>
              </c:strCache>
            </c:strRef>
          </c:tx>
          <c:spPr>
            <a:solidFill>
              <a:srgbClr val="0B1F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Benign</c:v>
                  </c:pt>
                  <c:pt idx="1">
                    <c:v>BruteForce</c:v>
                  </c:pt>
                  <c:pt idx="2">
                    <c:v>DDoS</c:v>
                  </c:pt>
                  <c:pt idx="3">
                    <c:v>DoS</c:v>
                  </c:pt>
                  <c:pt idx="4">
                    <c:v>Mirai</c:v>
                  </c:pt>
                  <c:pt idx="5">
                    <c:v>Recon</c:v>
                  </c:pt>
                  <c:pt idx="6">
                    <c:v>Spoofing</c:v>
                  </c:pt>
                  <c:pt idx="7">
                    <c:v>Web-based</c:v>
                  </c:pt>
                </c:lvl>
              </c:multiLvlStrCache>
            </c:multiLvlStrRef>
          </c:cat>
          <c:val>
            <c:numRef>
              <c:f>Sheet1!$B$2:$B$9</c:f>
              <c:numCache>
                <c:formatCode>General</c:formatCode>
                <c:ptCount val="8"/>
                <c:pt idx="0">
                  <c:v>0.66</c:v>
                </c:pt>
                <c:pt idx="1">
                  <c:v>0.23</c:v>
                </c:pt>
                <c:pt idx="2">
                  <c:v>0.88</c:v>
                </c:pt>
                <c:pt idx="3">
                  <c:v>0.77</c:v>
                </c:pt>
                <c:pt idx="4">
                  <c:v>1</c:v>
                </c:pt>
                <c:pt idx="5">
                  <c:v>0.61</c:v>
                </c:pt>
                <c:pt idx="6">
                  <c:v>0.68</c:v>
                </c:pt>
                <c:pt idx="7">
                  <c:v>0.25</c:v>
                </c:pt>
              </c:numCache>
            </c:numRef>
          </c:val>
        </c:ser>
        <c:ser>
          <c:idx val="1"/>
          <c:order val="1"/>
          <c:tx>
            <c:strRef>
              <c:f>Sheet1!$C$1</c:f>
              <c:strCache>
                <c:ptCount val="1"/>
                <c:pt idx="0">
                  <c:v>GRU</c:v>
                </c:pt>
              </c:strCache>
            </c:strRef>
          </c:tx>
          <c:spPr>
            <a:solidFill>
              <a:srgbClr val="8AA1B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Benign</c:v>
                  </c:pt>
                  <c:pt idx="1">
                    <c:v>BruteForce</c:v>
                  </c:pt>
                  <c:pt idx="2">
                    <c:v>DDoS</c:v>
                  </c:pt>
                  <c:pt idx="3">
                    <c:v>DoS</c:v>
                  </c:pt>
                  <c:pt idx="4">
                    <c:v>Mirai</c:v>
                  </c:pt>
                  <c:pt idx="5">
                    <c:v>Recon</c:v>
                  </c:pt>
                  <c:pt idx="6">
                    <c:v>Spoofing</c:v>
                  </c:pt>
                  <c:pt idx="7">
                    <c:v>Web-based</c:v>
                  </c:pt>
                </c:lvl>
              </c:multiLvlStrCache>
            </c:multiLvlStrRef>
          </c:cat>
          <c:val>
            <c:numRef>
              <c:f>Sheet1!$C$2:$C$9</c:f>
              <c:numCache>
                <c:formatCode>General</c:formatCode>
                <c:ptCount val="8"/>
                <c:pt idx="0">
                  <c:v>0.58</c:v>
                </c:pt>
                <c:pt idx="1">
                  <c:v>0.2</c:v>
                </c:pt>
                <c:pt idx="2">
                  <c:v>0.83</c:v>
                </c:pt>
                <c:pt idx="3">
                  <c:v>0.72</c:v>
                </c:pt>
                <c:pt idx="4">
                  <c:v>0.99</c:v>
                </c:pt>
                <c:pt idx="5">
                  <c:v>0.56</c:v>
                </c:pt>
                <c:pt idx="6">
                  <c:v>0.63</c:v>
                </c:pt>
                <c:pt idx="7">
                  <c:v>0.18</c:v>
                </c:pt>
              </c:numCache>
            </c:numRef>
          </c:val>
        </c:ser>
        <c:ser>
          <c:idx val="2"/>
          <c:order val="2"/>
          <c:tx>
            <c:strRef>
              <c:f>Sheet1!$D$1</c:f>
              <c:strCache>
                <c:ptCount val="1"/>
                <c:pt idx="0">
                  <c:v>Transformer</c:v>
                </c:pt>
              </c:strCache>
            </c:strRef>
          </c:tx>
          <c:spPr>
            <a:solidFill>
              <a:srgbClr val="1AA8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Benign</c:v>
                  </c:pt>
                  <c:pt idx="1">
                    <c:v>BruteForce</c:v>
                  </c:pt>
                  <c:pt idx="2">
                    <c:v>DDoS</c:v>
                  </c:pt>
                  <c:pt idx="3">
                    <c:v>DoS</c:v>
                  </c:pt>
                  <c:pt idx="4">
                    <c:v>Mirai</c:v>
                  </c:pt>
                  <c:pt idx="5">
                    <c:v>Recon</c:v>
                  </c:pt>
                  <c:pt idx="6">
                    <c:v>Spoofing</c:v>
                  </c:pt>
                  <c:pt idx="7">
                    <c:v>Web-based</c:v>
                  </c:pt>
                </c:lvl>
              </c:multiLvlStrCache>
            </c:multiLvlStrRef>
          </c:cat>
          <c:val>
            <c:numRef>
              <c:f>Sheet1!$D$2:$D$9</c:f>
              <c:numCache>
                <c:formatCode>General</c:formatCode>
                <c:ptCount val="8"/>
                <c:pt idx="0">
                  <c:v>0.66</c:v>
                </c:pt>
                <c:pt idx="1">
                  <c:v>0.21</c:v>
                </c:pt>
                <c:pt idx="2">
                  <c:v>0.83</c:v>
                </c:pt>
                <c:pt idx="3">
                  <c:v>0.73</c:v>
                </c:pt>
                <c:pt idx="4">
                  <c:v>1</c:v>
                </c:pt>
                <c:pt idx="5">
                  <c:v>0.54</c:v>
                </c:pt>
                <c:pt idx="6">
                  <c:v>0.82</c:v>
                </c:pt>
                <c:pt idx="7">
                  <c:v>0.23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A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7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comparing seven deep learning architectures for multiclass IoT intrusion detection on CICIoT2023, measuring both predictive quality and training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the task is eight-class classification of malicious IoT traffic from 39 standardised flow features. Macro metrics and training cost are used because accuracy alone is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research questions structure the rest of the deck: RQ1 results, RQ2 regularisation, RQ3 recurrent models, RQ4 Transformer cost, RQ5 comparability with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Literature Review workbook (20-paper corpus; counts describe this corpus only, not a systematic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sample is 10,000 flows per class; duplicates (84,370) were removed before sampling. The test set is the full supplied file and was not resampled. Epoch budget 20 (25 for the Transformer); CPU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DNN 15,720; Proposed DNN 16,232; GRU 24,904; LSTM 31,944; Transformer 76,808. GRU replaces the earlier 1D-CNN; the Transformer is the improved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DNN: best accuracy and macro F1. Transformer: best macro precision and recall. DNN + L2: fastest. Gaps of a point or two are not shown to be meaningful since there is one run per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and RQ3. Macro F1 is lower than accuracy for every model, showing minority classes are harder than the majority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Times are CPU wall-clock including a validation pass each epoch; they indicate training/retraining cost, not inference latency. Log scale is used because linear bars would make the DNN family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F1 from the notebook classification reports (2 decimals). This is why macro metrics trail accuracy: two classes are below 0.30 F1 for every model. The Transformer's macro recall advantage comes partly from Spoofing and rare-class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RQ3, RQ4. Regularisation not helping does not mean it is ineffective in general, only that these strengths were not better in this setup. GRU and Transformer ended at their epoch limit with validation loss still falling, so rankings may partly reflect training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RQ5. Source: SOTA analysis workbook. Median of 13 reported CICIoT2023 results is 99.4%, but most use rebalanced or reduced test sets. Only the Kwari &amp; Rajkumar result is a natural-distribution figure with macro F1 reported (0.54).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test overlap with training flows was not checked, and the LSTM log shows only 5 of 20 epochs, so its low score may partly reflect training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a controlled internal benchmark, not a universal SOTA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274320"/>
          </a:xfrm>
          <a:prstGeom prst="rect">
            <a:avLst/>
          </a:prstGeom>
          <a:noFill/>
          <a:ln/>
        </p:spPr>
        <p:txBody>
          <a:bodyPr wrap="square" lIns="0" tIns="0" rIns="0" bIns="0" rtlCol="0" anchor="ctr"/>
          <a:lstStyle/>
          <a:p>
            <a:pPr indent="0" marL="0">
              <a:buNone/>
            </a:pPr>
            <a:r>
              <a:rPr lang="en-US" sz="1200" b="1" spc="200" kern="0" dirty="0">
                <a:solidFill>
                  <a:srgbClr val="1AA89A"/>
                </a:solidFill>
                <a:latin typeface="Calibri" pitchFamily="34" charset="0"/>
                <a:ea typeface="Calibri" pitchFamily="34" charset="-122"/>
                <a:cs typeface="Calibri" pitchFamily="34" charset="-120"/>
              </a:rPr>
              <a:t>DEEP LEARNING PROJECT  |  MANIPAL UNIVERSITY JAIPUR</a:t>
            </a:r>
            <a:endParaRPr lang="en-US" sz="1200" dirty="0"/>
          </a:p>
        </p:txBody>
      </p:sp>
      <p:sp>
        <p:nvSpPr>
          <p:cNvPr id="3" name="Text 1"/>
          <p:cNvSpPr txBox="1"/>
          <p:nvPr/>
        </p:nvSpPr>
        <p:spPr>
          <a:xfrm>
            <a:off x="548640" y="1188720"/>
            <a:ext cx="749808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Deep Learning Based Intrusion Detection for IoT Networks</a:t>
            </a:r>
            <a:endParaRPr lang="en-US" sz="3800" dirty="0"/>
          </a:p>
        </p:txBody>
      </p:sp>
      <p:sp>
        <p:nvSpPr>
          <p:cNvPr id="4" name="Text 2"/>
          <p:cNvSpPr txBox="1"/>
          <p:nvPr/>
        </p:nvSpPr>
        <p:spPr>
          <a:xfrm>
            <a:off x="548640" y="2788920"/>
            <a:ext cx="6949440" cy="640080"/>
          </a:xfrm>
          <a:prstGeom prst="rect">
            <a:avLst/>
          </a:prstGeom>
          <a:noFill/>
          <a:ln/>
        </p:spPr>
        <p:txBody>
          <a:bodyPr wrap="square" lIns="0" tIns="0" rIns="0" bIns="0" rtlCol="0" anchor="t"/>
          <a:lstStyle/>
          <a:p>
            <a:pPr indent="0" marL="0">
              <a:buNone/>
            </a:pPr>
            <a:r>
              <a:rPr lang="en-US" sz="1800" dirty="0">
                <a:solidFill>
                  <a:srgbClr val="C7D5DE"/>
                </a:solidFill>
                <a:latin typeface="Calibri" pitchFamily="34" charset="0"/>
                <a:ea typeface="Calibri" pitchFamily="34" charset="-122"/>
                <a:cs typeface="Calibri" pitchFamily="34" charset="-120"/>
              </a:rPr>
              <a:t>A controlled comparison of seven architectures on an eight-class CICIoT2023 setup</a:t>
            </a:r>
            <a:endParaRPr lang="en-US" sz="1800" dirty="0"/>
          </a:p>
        </p:txBody>
      </p:sp>
      <p:sp>
        <p:nvSpPr>
          <p:cNvPr id="5" name="Text 3"/>
          <p:cNvSpPr txBox="1"/>
          <p:nvPr/>
        </p:nvSpPr>
        <p:spPr>
          <a:xfrm>
            <a:off x="548640" y="4023360"/>
            <a:ext cx="73152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Namrata Kothari</a:t>
            </a:r>
            <a:endParaRPr lang="en-US" sz="1400" dirty="0"/>
          </a:p>
          <a:p>
            <a:pPr indent="0" marL="0">
              <a:buNone/>
            </a:pPr>
            <a:r>
              <a:rPr lang="en-US" sz="1400" dirty="0">
                <a:solidFill>
                  <a:srgbClr val="8AA1B1"/>
                </a:solidFill>
                <a:latin typeface="Calibri" pitchFamily="34" charset="0"/>
                <a:ea typeface="Calibri" pitchFamily="34" charset="-122"/>
                <a:cs typeface="Calibri" pitchFamily="34" charset="-120"/>
              </a:rPr>
              <a:t>School of Computer Science and Engineering  |  October 2026</a:t>
            </a:r>
            <a:endParaRPr lang="en-US" sz="1400" dirty="0"/>
          </a:p>
        </p:txBody>
      </p:sp>
      <p:sp>
        <p:nvSpPr>
          <p:cNvPr id="6" name="Shape 4"/>
          <p:cNvSpPr/>
          <p:nvPr/>
        </p:nvSpPr>
        <p:spPr>
          <a:xfrm>
            <a:off x="7498080" y="822960"/>
            <a:ext cx="822960" cy="640080"/>
          </a:xfrm>
          <a:prstGeom prst="line">
            <a:avLst/>
          </a:prstGeom>
          <a:noFill/>
          <a:ln w="19050">
            <a:solidFill>
              <a:srgbClr val="2B4A5A"/>
            </a:solidFill>
            <a:prstDash val="solid"/>
          </a:ln>
        </p:spPr>
      </p:sp>
      <p:sp>
        <p:nvSpPr>
          <p:cNvPr id="7" name="Shape 5"/>
          <p:cNvSpPr/>
          <p:nvPr/>
        </p:nvSpPr>
        <p:spPr>
          <a:xfrm flipV="1">
            <a:off x="7863840" y="1463040"/>
            <a:ext cx="457200" cy="822960"/>
          </a:xfrm>
          <a:prstGeom prst="line">
            <a:avLst/>
          </a:prstGeom>
          <a:noFill/>
          <a:ln w="19050">
            <a:solidFill>
              <a:srgbClr val="2B4A5A"/>
            </a:solidFill>
            <a:prstDash val="solid"/>
          </a:ln>
        </p:spPr>
      </p:sp>
      <p:sp>
        <p:nvSpPr>
          <p:cNvPr id="8" name="Shape 6"/>
          <p:cNvSpPr/>
          <p:nvPr/>
        </p:nvSpPr>
        <p:spPr>
          <a:xfrm>
            <a:off x="7863840" y="2286000"/>
            <a:ext cx="640080" cy="731520"/>
          </a:xfrm>
          <a:prstGeom prst="line">
            <a:avLst/>
          </a:prstGeom>
          <a:noFill/>
          <a:ln w="19050">
            <a:solidFill>
              <a:srgbClr val="2B4A5A"/>
            </a:solidFill>
            <a:prstDash val="solid"/>
          </a:ln>
        </p:spPr>
      </p:sp>
      <p:sp>
        <p:nvSpPr>
          <p:cNvPr id="9" name="Shape 7"/>
          <p:cNvSpPr/>
          <p:nvPr/>
        </p:nvSpPr>
        <p:spPr>
          <a:xfrm flipV="1">
            <a:off x="7315200" y="2286000"/>
            <a:ext cx="548640" cy="1005840"/>
          </a:xfrm>
          <a:prstGeom prst="line">
            <a:avLst/>
          </a:prstGeom>
          <a:noFill/>
          <a:ln w="19050">
            <a:solidFill>
              <a:srgbClr val="2B4A5A"/>
            </a:solidFill>
            <a:prstDash val="solid"/>
          </a:ln>
        </p:spPr>
      </p:sp>
      <p:sp>
        <p:nvSpPr>
          <p:cNvPr id="10" name="Shape 8"/>
          <p:cNvSpPr/>
          <p:nvPr/>
        </p:nvSpPr>
        <p:spPr>
          <a:xfrm>
            <a:off x="7498080" y="822960"/>
            <a:ext cx="365760" cy="1463040"/>
          </a:xfrm>
          <a:prstGeom prst="line">
            <a:avLst/>
          </a:prstGeom>
          <a:noFill/>
          <a:ln w="19050">
            <a:solidFill>
              <a:srgbClr val="2B4A5A"/>
            </a:solidFill>
            <a:prstDash val="solid"/>
          </a:ln>
        </p:spPr>
      </p:sp>
      <p:sp>
        <p:nvSpPr>
          <p:cNvPr id="11" name="Shape 9"/>
          <p:cNvSpPr/>
          <p:nvPr/>
        </p:nvSpPr>
        <p:spPr>
          <a:xfrm>
            <a:off x="7370064" y="694944"/>
            <a:ext cx="256032" cy="256032"/>
          </a:xfrm>
          <a:prstGeom prst="ellipse">
            <a:avLst/>
          </a:prstGeom>
          <a:solidFill>
            <a:srgbClr val="1AA89A"/>
          </a:solidFill>
          <a:ln w="12700">
            <a:solidFill>
              <a:srgbClr val="0B1F2A"/>
            </a:solidFill>
            <a:prstDash val="solid"/>
          </a:ln>
        </p:spPr>
      </p:sp>
      <p:sp>
        <p:nvSpPr>
          <p:cNvPr id="12" name="Shape 10"/>
          <p:cNvSpPr/>
          <p:nvPr/>
        </p:nvSpPr>
        <p:spPr>
          <a:xfrm>
            <a:off x="8193024" y="1335024"/>
            <a:ext cx="256032" cy="256032"/>
          </a:xfrm>
          <a:prstGeom prst="ellipse">
            <a:avLst/>
          </a:prstGeom>
          <a:solidFill>
            <a:srgbClr val="1AA89A"/>
          </a:solidFill>
          <a:ln w="12700">
            <a:solidFill>
              <a:srgbClr val="0B1F2A"/>
            </a:solidFill>
            <a:prstDash val="solid"/>
          </a:ln>
        </p:spPr>
      </p:sp>
      <p:sp>
        <p:nvSpPr>
          <p:cNvPr id="13" name="Shape 11"/>
          <p:cNvSpPr/>
          <p:nvPr/>
        </p:nvSpPr>
        <p:spPr>
          <a:xfrm>
            <a:off x="7735824" y="2157984"/>
            <a:ext cx="256032" cy="256032"/>
          </a:xfrm>
          <a:prstGeom prst="ellipse">
            <a:avLst/>
          </a:prstGeom>
          <a:solidFill>
            <a:srgbClr val="F2A900"/>
          </a:solidFill>
          <a:ln w="12700">
            <a:solidFill>
              <a:srgbClr val="0B1F2A"/>
            </a:solidFill>
            <a:prstDash val="solid"/>
          </a:ln>
        </p:spPr>
      </p:sp>
      <p:sp>
        <p:nvSpPr>
          <p:cNvPr id="14" name="Shape 12"/>
          <p:cNvSpPr/>
          <p:nvPr/>
        </p:nvSpPr>
        <p:spPr>
          <a:xfrm>
            <a:off x="8375904" y="2889504"/>
            <a:ext cx="256032" cy="256032"/>
          </a:xfrm>
          <a:prstGeom prst="ellipse">
            <a:avLst/>
          </a:prstGeom>
          <a:solidFill>
            <a:srgbClr val="1AA89A"/>
          </a:solidFill>
          <a:ln w="12700">
            <a:solidFill>
              <a:srgbClr val="0B1F2A"/>
            </a:solidFill>
            <a:prstDash val="solid"/>
          </a:ln>
        </p:spPr>
      </p:sp>
      <p:sp>
        <p:nvSpPr>
          <p:cNvPr id="15" name="Shape 13"/>
          <p:cNvSpPr/>
          <p:nvPr/>
        </p:nvSpPr>
        <p:spPr>
          <a:xfrm>
            <a:off x="7187184" y="3163824"/>
            <a:ext cx="256032" cy="256032"/>
          </a:xfrm>
          <a:prstGeom prst="ellipse">
            <a:avLst/>
          </a:prstGeom>
          <a:solidFill>
            <a:srgbClr val="1AA89A"/>
          </a:solidFill>
          <a:ln w="12700">
            <a:solidFill>
              <a:srgbClr val="0B1F2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Why IoT intrusion detection is hard</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457200" y="1234440"/>
            <a:ext cx="4023360" cy="1554480"/>
          </a:xfrm>
          <a:prstGeom prst="roundRect">
            <a:avLst>
              <a:gd name="adj" fmla="val 4706"/>
            </a:avLst>
          </a:prstGeom>
          <a:solidFill>
            <a:srgbClr val="F2F6F8"/>
          </a:solidFill>
          <a:ln w="12700">
            <a:solidFill>
              <a:srgbClr val="F2F6F8"/>
            </a:solidFill>
            <a:prstDash val="solid"/>
          </a:ln>
        </p:spPr>
      </p:sp>
      <p:sp>
        <p:nvSpPr>
          <p:cNvPr id="5" name="Shape 3"/>
          <p:cNvSpPr/>
          <p:nvPr/>
        </p:nvSpPr>
        <p:spPr>
          <a:xfrm>
            <a:off x="640080" y="1417320"/>
            <a:ext cx="411480" cy="411480"/>
          </a:xfrm>
          <a:prstGeom prst="ellipse">
            <a:avLst/>
          </a:prstGeom>
          <a:solidFill>
            <a:srgbClr val="1AA89A"/>
          </a:solidFill>
          <a:ln w="12700">
            <a:solidFill>
              <a:srgbClr val="1AA89A"/>
            </a:solidFill>
            <a:prstDash val="solid"/>
          </a:ln>
        </p:spPr>
      </p:sp>
      <p:sp>
        <p:nvSpPr>
          <p:cNvPr id="6" name="Text 4"/>
          <p:cNvSpPr txBox="1"/>
          <p:nvPr/>
        </p:nvSpPr>
        <p:spPr>
          <a:xfrm>
            <a:off x="64008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389888"/>
            <a:ext cx="3154680" cy="457200"/>
          </a:xfrm>
          <a:prstGeom prst="rect">
            <a:avLst/>
          </a:prstGeom>
          <a:noFill/>
          <a:ln/>
        </p:spPr>
        <p:txBody>
          <a:bodyPr wrap="square" lIns="0" tIns="0" rIns="0" bIns="0" rtlCol="0" anchor="ctr"/>
          <a:lstStyle/>
          <a:p>
            <a:pPr indent="0" marL="0">
              <a:buNone/>
            </a:pPr>
            <a:r>
              <a:rPr lang="en-US" sz="1600" b="1" dirty="0">
                <a:solidFill>
                  <a:srgbClr val="0B1F2A"/>
                </a:solidFill>
                <a:latin typeface="Calibri" pitchFamily="34" charset="0"/>
                <a:ea typeface="Calibri" pitchFamily="34" charset="-122"/>
                <a:cs typeface="Calibri" pitchFamily="34" charset="-120"/>
              </a:rPr>
              <a:t>More devices, more entry points</a:t>
            </a:r>
            <a:endParaRPr lang="en-US" sz="1600" dirty="0"/>
          </a:p>
        </p:txBody>
      </p:sp>
      <p:sp>
        <p:nvSpPr>
          <p:cNvPr id="8" name="Text 6"/>
          <p:cNvSpPr txBox="1"/>
          <p:nvPr/>
        </p:nvSpPr>
        <p:spPr>
          <a:xfrm>
            <a:off x="640080" y="1965960"/>
            <a:ext cx="36576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Sensors, cameras, gateways and controllers are resource-constrained and widely connected.</a:t>
            </a:r>
            <a:endParaRPr lang="en-US" sz="1400" dirty="0"/>
          </a:p>
        </p:txBody>
      </p:sp>
      <p:sp>
        <p:nvSpPr>
          <p:cNvPr id="9" name="Shape 7"/>
          <p:cNvSpPr/>
          <p:nvPr/>
        </p:nvSpPr>
        <p:spPr>
          <a:xfrm>
            <a:off x="4663440" y="1234440"/>
            <a:ext cx="4023360" cy="1554480"/>
          </a:xfrm>
          <a:prstGeom prst="roundRect">
            <a:avLst>
              <a:gd name="adj" fmla="val 4706"/>
            </a:avLst>
          </a:prstGeom>
          <a:solidFill>
            <a:srgbClr val="F2F6F8"/>
          </a:solidFill>
          <a:ln w="12700">
            <a:solidFill>
              <a:srgbClr val="F2F6F8"/>
            </a:solidFill>
            <a:prstDash val="solid"/>
          </a:ln>
        </p:spPr>
      </p:sp>
      <p:sp>
        <p:nvSpPr>
          <p:cNvPr id="10" name="Shape 8"/>
          <p:cNvSpPr/>
          <p:nvPr/>
        </p:nvSpPr>
        <p:spPr>
          <a:xfrm>
            <a:off x="4846320" y="1417320"/>
            <a:ext cx="411480" cy="411480"/>
          </a:xfrm>
          <a:prstGeom prst="ellipse">
            <a:avLst/>
          </a:prstGeom>
          <a:solidFill>
            <a:srgbClr val="1AA89A"/>
          </a:solidFill>
          <a:ln w="12700">
            <a:solidFill>
              <a:srgbClr val="1AA89A"/>
            </a:solidFill>
            <a:prstDash val="solid"/>
          </a:ln>
        </p:spPr>
      </p:sp>
      <p:sp>
        <p:nvSpPr>
          <p:cNvPr id="11" name="Text 9"/>
          <p:cNvSpPr txBox="1"/>
          <p:nvPr/>
        </p:nvSpPr>
        <p:spPr>
          <a:xfrm>
            <a:off x="484632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394960" y="1389888"/>
            <a:ext cx="3154680" cy="457200"/>
          </a:xfrm>
          <a:prstGeom prst="rect">
            <a:avLst/>
          </a:prstGeom>
          <a:noFill/>
          <a:ln/>
        </p:spPr>
        <p:txBody>
          <a:bodyPr wrap="square" lIns="0" tIns="0" rIns="0" bIns="0" rtlCol="0" anchor="ctr"/>
          <a:lstStyle/>
          <a:p>
            <a:pPr indent="0" marL="0">
              <a:buNone/>
            </a:pPr>
            <a:r>
              <a:rPr lang="en-US" sz="1600" b="1" dirty="0">
                <a:solidFill>
                  <a:srgbClr val="0B1F2A"/>
                </a:solidFill>
                <a:latin typeface="Calibri" pitchFamily="34" charset="0"/>
                <a:ea typeface="Calibri" pitchFamily="34" charset="-122"/>
                <a:cs typeface="Calibri" pitchFamily="34" charset="-120"/>
              </a:rPr>
              <a:t>Signatures miss the unknown</a:t>
            </a:r>
            <a:endParaRPr lang="en-US" sz="1600" dirty="0"/>
          </a:p>
        </p:txBody>
      </p:sp>
      <p:sp>
        <p:nvSpPr>
          <p:cNvPr id="13" name="Text 11"/>
          <p:cNvSpPr txBox="1"/>
          <p:nvPr/>
        </p:nvSpPr>
        <p:spPr>
          <a:xfrm>
            <a:off x="4846320" y="1965960"/>
            <a:ext cx="36576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Signature-based IDS depends on known patterns; learning-based IDS learns them from traffic.</a:t>
            </a:r>
            <a:endParaRPr lang="en-US" sz="1400" dirty="0"/>
          </a:p>
        </p:txBody>
      </p:sp>
      <p:sp>
        <p:nvSpPr>
          <p:cNvPr id="14" name="Shape 12"/>
          <p:cNvSpPr/>
          <p:nvPr/>
        </p:nvSpPr>
        <p:spPr>
          <a:xfrm>
            <a:off x="457200" y="2971800"/>
            <a:ext cx="4023360" cy="1554480"/>
          </a:xfrm>
          <a:prstGeom prst="roundRect">
            <a:avLst>
              <a:gd name="adj" fmla="val 4706"/>
            </a:avLst>
          </a:prstGeom>
          <a:solidFill>
            <a:srgbClr val="F2F6F8"/>
          </a:solidFill>
          <a:ln w="12700">
            <a:solidFill>
              <a:srgbClr val="F2F6F8"/>
            </a:solidFill>
            <a:prstDash val="solid"/>
          </a:ln>
        </p:spPr>
      </p:sp>
      <p:sp>
        <p:nvSpPr>
          <p:cNvPr id="15" name="Shape 13"/>
          <p:cNvSpPr/>
          <p:nvPr/>
        </p:nvSpPr>
        <p:spPr>
          <a:xfrm>
            <a:off x="640080" y="3154680"/>
            <a:ext cx="411480" cy="411480"/>
          </a:xfrm>
          <a:prstGeom prst="ellipse">
            <a:avLst/>
          </a:prstGeom>
          <a:solidFill>
            <a:srgbClr val="1AA89A"/>
          </a:solidFill>
          <a:ln w="12700">
            <a:solidFill>
              <a:srgbClr val="1AA89A"/>
            </a:solidFill>
            <a:prstDash val="solid"/>
          </a:ln>
        </p:spPr>
      </p:sp>
      <p:sp>
        <p:nvSpPr>
          <p:cNvPr id="16" name="Text 14"/>
          <p:cNvSpPr txBox="1"/>
          <p:nvPr/>
        </p:nvSpPr>
        <p:spPr>
          <a:xfrm>
            <a:off x="64008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188720" y="3127248"/>
            <a:ext cx="3154680" cy="457200"/>
          </a:xfrm>
          <a:prstGeom prst="rect">
            <a:avLst/>
          </a:prstGeom>
          <a:noFill/>
          <a:ln/>
        </p:spPr>
        <p:txBody>
          <a:bodyPr wrap="square" lIns="0" tIns="0" rIns="0" bIns="0" rtlCol="0" anchor="ctr"/>
          <a:lstStyle/>
          <a:p>
            <a:pPr indent="0" marL="0">
              <a:buNone/>
            </a:pPr>
            <a:r>
              <a:rPr lang="en-US" sz="1600" b="1" dirty="0">
                <a:solidFill>
                  <a:srgbClr val="0B1F2A"/>
                </a:solidFill>
                <a:latin typeface="Calibri" pitchFamily="34" charset="0"/>
                <a:ea typeface="Calibri" pitchFamily="34" charset="-122"/>
                <a:cs typeface="Calibri" pitchFamily="34" charset="-120"/>
              </a:rPr>
              <a:t>Accuracy alone misleads</a:t>
            </a:r>
            <a:endParaRPr lang="en-US" sz="1600" dirty="0"/>
          </a:p>
        </p:txBody>
      </p:sp>
      <p:sp>
        <p:nvSpPr>
          <p:cNvPr id="18" name="Text 16"/>
          <p:cNvSpPr txBox="1"/>
          <p:nvPr/>
        </p:nvSpPr>
        <p:spPr>
          <a:xfrm>
            <a:off x="640080" y="3703320"/>
            <a:ext cx="36576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IoT traffic is imbalanced, so high accuracy can hide poor minority-class detection.</a:t>
            </a:r>
            <a:endParaRPr lang="en-US" sz="1400" dirty="0"/>
          </a:p>
        </p:txBody>
      </p:sp>
      <p:sp>
        <p:nvSpPr>
          <p:cNvPr id="19" name="Shape 17"/>
          <p:cNvSpPr/>
          <p:nvPr/>
        </p:nvSpPr>
        <p:spPr>
          <a:xfrm>
            <a:off x="4663440" y="2971800"/>
            <a:ext cx="4023360" cy="1554480"/>
          </a:xfrm>
          <a:prstGeom prst="roundRect">
            <a:avLst>
              <a:gd name="adj" fmla="val 4706"/>
            </a:avLst>
          </a:prstGeom>
          <a:solidFill>
            <a:srgbClr val="F2F6F8"/>
          </a:solidFill>
          <a:ln w="12700">
            <a:solidFill>
              <a:srgbClr val="F2F6F8"/>
            </a:solidFill>
            <a:prstDash val="solid"/>
          </a:ln>
        </p:spPr>
      </p:sp>
      <p:sp>
        <p:nvSpPr>
          <p:cNvPr id="20" name="Shape 18"/>
          <p:cNvSpPr/>
          <p:nvPr/>
        </p:nvSpPr>
        <p:spPr>
          <a:xfrm>
            <a:off x="4846320" y="3154680"/>
            <a:ext cx="411480" cy="411480"/>
          </a:xfrm>
          <a:prstGeom prst="ellipse">
            <a:avLst/>
          </a:prstGeom>
          <a:solidFill>
            <a:srgbClr val="1AA89A"/>
          </a:solidFill>
          <a:ln w="12700">
            <a:solidFill>
              <a:srgbClr val="1AA89A"/>
            </a:solidFill>
            <a:prstDash val="solid"/>
          </a:ln>
        </p:spPr>
      </p:sp>
      <p:sp>
        <p:nvSpPr>
          <p:cNvPr id="21" name="Text 19"/>
          <p:cNvSpPr txBox="1"/>
          <p:nvPr/>
        </p:nvSpPr>
        <p:spPr>
          <a:xfrm>
            <a:off x="484632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5394960" y="3127248"/>
            <a:ext cx="3154680" cy="457200"/>
          </a:xfrm>
          <a:prstGeom prst="rect">
            <a:avLst/>
          </a:prstGeom>
          <a:noFill/>
          <a:ln/>
        </p:spPr>
        <p:txBody>
          <a:bodyPr wrap="square" lIns="0" tIns="0" rIns="0" bIns="0" rtlCol="0" anchor="ctr"/>
          <a:lstStyle/>
          <a:p>
            <a:pPr indent="0" marL="0">
              <a:buNone/>
            </a:pPr>
            <a:r>
              <a:rPr lang="en-US" sz="1600" b="1" dirty="0">
                <a:solidFill>
                  <a:srgbClr val="0B1F2A"/>
                </a:solidFill>
                <a:latin typeface="Calibri" pitchFamily="34" charset="0"/>
                <a:ea typeface="Calibri" pitchFamily="34" charset="-122"/>
                <a:cs typeface="Calibri" pitchFamily="34" charset="-120"/>
              </a:rPr>
              <a:t>Cost matters too</a:t>
            </a:r>
            <a:endParaRPr lang="en-US" sz="1600" dirty="0"/>
          </a:p>
        </p:txBody>
      </p:sp>
      <p:sp>
        <p:nvSpPr>
          <p:cNvPr id="23" name="Text 21"/>
          <p:cNvSpPr txBox="1"/>
          <p:nvPr/>
        </p:nvSpPr>
        <p:spPr>
          <a:xfrm>
            <a:off x="4846320" y="3703320"/>
            <a:ext cx="36576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Models may be retrained or deployed on constrained hardware, so compute is part of the answer.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Aim and research questions</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
        <p:nvSpPr>
          <p:cNvPr id="4" name="Shape 2"/>
          <p:cNvSpPr/>
          <p:nvPr/>
        </p:nvSpPr>
        <p:spPr>
          <a:xfrm>
            <a:off x="457200" y="1188720"/>
            <a:ext cx="2926080" cy="3383280"/>
          </a:xfrm>
          <a:prstGeom prst="roundRect">
            <a:avLst>
              <a:gd name="adj" fmla="val 2500"/>
            </a:avLst>
          </a:prstGeom>
          <a:solidFill>
            <a:srgbClr val="0B1F2A"/>
          </a:solidFill>
          <a:ln w="12700">
            <a:solidFill>
              <a:srgbClr val="0B1F2A"/>
            </a:solidFill>
            <a:prstDash val="solid"/>
          </a:ln>
        </p:spPr>
      </p:sp>
      <p:sp>
        <p:nvSpPr>
          <p:cNvPr id="5" name="Text 3"/>
          <p:cNvSpPr txBox="1"/>
          <p:nvPr/>
        </p:nvSpPr>
        <p:spPr>
          <a:xfrm>
            <a:off x="685800" y="1371600"/>
            <a:ext cx="2468880" cy="274320"/>
          </a:xfrm>
          <a:prstGeom prst="rect">
            <a:avLst/>
          </a:prstGeom>
          <a:noFill/>
          <a:ln/>
        </p:spPr>
        <p:txBody>
          <a:bodyPr wrap="square" lIns="0" tIns="0" rIns="0" bIns="0" rtlCol="0" anchor="ctr"/>
          <a:lstStyle/>
          <a:p>
            <a:pPr indent="0" marL="0">
              <a:buNone/>
            </a:pPr>
            <a:r>
              <a:rPr lang="en-US" sz="1200" b="1" spc="200" kern="0" dirty="0">
                <a:solidFill>
                  <a:srgbClr val="1AA89A"/>
                </a:solidFill>
                <a:latin typeface="Calibri" pitchFamily="34" charset="0"/>
                <a:ea typeface="Calibri" pitchFamily="34" charset="-122"/>
                <a:cs typeface="Calibri" pitchFamily="34" charset="-120"/>
              </a:rPr>
              <a:t>AIM</a:t>
            </a:r>
            <a:endParaRPr lang="en-US" sz="1200" dirty="0"/>
          </a:p>
        </p:txBody>
      </p:sp>
      <p:sp>
        <p:nvSpPr>
          <p:cNvPr id="6" name="Text 4"/>
          <p:cNvSpPr txBox="1"/>
          <p:nvPr/>
        </p:nvSpPr>
        <p:spPr>
          <a:xfrm>
            <a:off x="685800" y="1737360"/>
            <a:ext cx="2468880" cy="26517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Analyse and compare deep learning architectures for IoT intrusion detection under one consistent eight-class CICIoT2023 configuration.</a:t>
            </a:r>
            <a:endParaRPr lang="en-US" sz="1800" dirty="0"/>
          </a:p>
        </p:txBody>
      </p:sp>
      <p:sp>
        <p:nvSpPr>
          <p:cNvPr id="7" name="Shape 5"/>
          <p:cNvSpPr/>
          <p:nvPr/>
        </p:nvSpPr>
        <p:spPr>
          <a:xfrm>
            <a:off x="3657600" y="1261872"/>
            <a:ext cx="411480" cy="411480"/>
          </a:xfrm>
          <a:prstGeom prst="ellipse">
            <a:avLst/>
          </a:prstGeom>
          <a:solidFill>
            <a:srgbClr val="1AA89A"/>
          </a:solidFill>
          <a:ln w="12700">
            <a:solidFill>
              <a:srgbClr val="1AA89A"/>
            </a:solidFill>
            <a:prstDash val="solid"/>
          </a:ln>
        </p:spPr>
      </p:sp>
      <p:sp>
        <p:nvSpPr>
          <p:cNvPr id="8" name="Text 6"/>
          <p:cNvSpPr txBox="1"/>
          <p:nvPr/>
        </p:nvSpPr>
        <p:spPr>
          <a:xfrm>
            <a:off x="3657600" y="12618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4251960" y="1188720"/>
            <a:ext cx="4434840" cy="566928"/>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RQ1  </a:t>
            </a:r>
            <a:pPr indent="0" marL="0">
              <a:buNone/>
            </a:pPr>
            <a:r>
              <a:rPr lang="en-US" sz="1400" dirty="0">
                <a:solidFill>
                  <a:srgbClr val="1B2733"/>
                </a:solidFill>
                <a:latin typeface="Calibri" pitchFamily="34" charset="0"/>
                <a:ea typeface="Calibri" pitchFamily="34" charset="-122"/>
                <a:cs typeface="Calibri" pitchFamily="34" charset="-120"/>
              </a:rPr>
              <a:t>Which architecture gives the best predictive performance?</a:t>
            </a:r>
            <a:endParaRPr lang="en-US" sz="1400" dirty="0"/>
          </a:p>
        </p:txBody>
      </p:sp>
      <p:sp>
        <p:nvSpPr>
          <p:cNvPr id="10" name="Shape 8"/>
          <p:cNvSpPr/>
          <p:nvPr/>
        </p:nvSpPr>
        <p:spPr>
          <a:xfrm>
            <a:off x="3657600" y="1956816"/>
            <a:ext cx="411480" cy="411480"/>
          </a:xfrm>
          <a:prstGeom prst="ellipse">
            <a:avLst/>
          </a:prstGeom>
          <a:solidFill>
            <a:srgbClr val="1AA89A"/>
          </a:solidFill>
          <a:ln w="12700">
            <a:solidFill>
              <a:srgbClr val="1AA89A"/>
            </a:solidFill>
            <a:prstDash val="solid"/>
          </a:ln>
        </p:spPr>
      </p:sp>
      <p:sp>
        <p:nvSpPr>
          <p:cNvPr id="11" name="Text 9"/>
          <p:cNvSpPr txBox="1"/>
          <p:nvPr/>
        </p:nvSpPr>
        <p:spPr>
          <a:xfrm>
            <a:off x="3657600" y="195681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251960" y="1883664"/>
            <a:ext cx="4434840" cy="566928"/>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RQ2  </a:t>
            </a:r>
            <a:pPr indent="0" marL="0">
              <a:buNone/>
            </a:pPr>
            <a:r>
              <a:rPr lang="en-US" sz="1400" dirty="0">
                <a:solidFill>
                  <a:srgbClr val="1B2733"/>
                </a:solidFill>
                <a:latin typeface="Calibri" pitchFamily="34" charset="0"/>
                <a:ea typeface="Calibri" pitchFamily="34" charset="-122"/>
                <a:cs typeface="Calibri" pitchFamily="34" charset="-120"/>
              </a:rPr>
              <a:t>Do Dropout and L2 improve the baseline DNN?</a:t>
            </a:r>
            <a:endParaRPr lang="en-US" sz="1400" dirty="0"/>
          </a:p>
        </p:txBody>
      </p:sp>
      <p:sp>
        <p:nvSpPr>
          <p:cNvPr id="13" name="Shape 11"/>
          <p:cNvSpPr/>
          <p:nvPr/>
        </p:nvSpPr>
        <p:spPr>
          <a:xfrm>
            <a:off x="3657600" y="2651760"/>
            <a:ext cx="411480" cy="411480"/>
          </a:xfrm>
          <a:prstGeom prst="ellipse">
            <a:avLst/>
          </a:prstGeom>
          <a:solidFill>
            <a:srgbClr val="1AA89A"/>
          </a:solidFill>
          <a:ln w="12700">
            <a:solidFill>
              <a:srgbClr val="1AA89A"/>
            </a:solidFill>
            <a:prstDash val="solid"/>
          </a:ln>
        </p:spPr>
      </p:sp>
      <p:sp>
        <p:nvSpPr>
          <p:cNvPr id="14" name="Text 12"/>
          <p:cNvSpPr txBox="1"/>
          <p:nvPr/>
        </p:nvSpPr>
        <p:spPr>
          <a:xfrm>
            <a:off x="3657600" y="2651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4251960" y="2578608"/>
            <a:ext cx="4434840" cy="566928"/>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RQ3  </a:t>
            </a:r>
            <a:pPr indent="0" marL="0">
              <a:buNone/>
            </a:pPr>
            <a:r>
              <a:rPr lang="en-US" sz="1400" dirty="0">
                <a:solidFill>
                  <a:srgbClr val="1B2733"/>
                </a:solidFill>
                <a:latin typeface="Calibri" pitchFamily="34" charset="0"/>
                <a:ea typeface="Calibri" pitchFamily="34" charset="-122"/>
                <a:cs typeface="Calibri" pitchFamily="34" charset="-120"/>
              </a:rPr>
              <a:t>How do GRU and LSTM compare with feed-forward models?</a:t>
            </a:r>
            <a:endParaRPr lang="en-US" sz="1400" dirty="0"/>
          </a:p>
        </p:txBody>
      </p:sp>
      <p:sp>
        <p:nvSpPr>
          <p:cNvPr id="16" name="Shape 14"/>
          <p:cNvSpPr/>
          <p:nvPr/>
        </p:nvSpPr>
        <p:spPr>
          <a:xfrm>
            <a:off x="3657600" y="3346704"/>
            <a:ext cx="411480" cy="411480"/>
          </a:xfrm>
          <a:prstGeom prst="ellipse">
            <a:avLst/>
          </a:prstGeom>
          <a:solidFill>
            <a:srgbClr val="1AA89A"/>
          </a:solidFill>
          <a:ln w="12700">
            <a:solidFill>
              <a:srgbClr val="1AA89A"/>
            </a:solidFill>
            <a:prstDash val="solid"/>
          </a:ln>
        </p:spPr>
      </p:sp>
      <p:sp>
        <p:nvSpPr>
          <p:cNvPr id="17" name="Text 15"/>
          <p:cNvSpPr txBox="1"/>
          <p:nvPr/>
        </p:nvSpPr>
        <p:spPr>
          <a:xfrm>
            <a:off x="3657600" y="334670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4251960" y="3273552"/>
            <a:ext cx="4434840" cy="566928"/>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RQ4  </a:t>
            </a:r>
            <a:pPr indent="0" marL="0">
              <a:buNone/>
            </a:pPr>
            <a:r>
              <a:rPr lang="en-US" sz="1400" dirty="0">
                <a:solidFill>
                  <a:srgbClr val="1B2733"/>
                </a:solidFill>
                <a:latin typeface="Calibri" pitchFamily="34" charset="0"/>
                <a:ea typeface="Calibri" pitchFamily="34" charset="-122"/>
                <a:cs typeface="Calibri" pitchFamily="34" charset="-120"/>
              </a:rPr>
              <a:t>Does the Transformer justify its extra compute cost?</a:t>
            </a:r>
            <a:endParaRPr lang="en-US" sz="1400" dirty="0"/>
          </a:p>
        </p:txBody>
      </p:sp>
      <p:sp>
        <p:nvSpPr>
          <p:cNvPr id="19" name="Shape 17"/>
          <p:cNvSpPr/>
          <p:nvPr/>
        </p:nvSpPr>
        <p:spPr>
          <a:xfrm>
            <a:off x="3657600" y="4041648"/>
            <a:ext cx="411480" cy="411480"/>
          </a:xfrm>
          <a:prstGeom prst="ellipse">
            <a:avLst/>
          </a:prstGeom>
          <a:solidFill>
            <a:srgbClr val="1AA89A"/>
          </a:solidFill>
          <a:ln w="12700">
            <a:solidFill>
              <a:srgbClr val="1AA89A"/>
            </a:solidFill>
            <a:prstDash val="solid"/>
          </a:ln>
        </p:spPr>
      </p:sp>
      <p:sp>
        <p:nvSpPr>
          <p:cNvPr id="20" name="Text 18"/>
          <p:cNvSpPr txBox="1"/>
          <p:nvPr/>
        </p:nvSpPr>
        <p:spPr>
          <a:xfrm>
            <a:off x="3657600" y="4041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4251960" y="3968496"/>
            <a:ext cx="4434840" cy="566928"/>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RQ5  </a:t>
            </a:r>
            <a:pPr indent="0" marL="0">
              <a:buNone/>
            </a:pPr>
            <a:r>
              <a:rPr lang="en-US" sz="1400" dirty="0">
                <a:solidFill>
                  <a:srgbClr val="1B2733"/>
                </a:solidFill>
                <a:latin typeface="Calibri" pitchFamily="34" charset="0"/>
                <a:ea typeface="Calibri" pitchFamily="34" charset="-122"/>
                <a:cs typeface="Calibri" pitchFamily="34" charset="-120"/>
              </a:rPr>
              <a:t>What must be considered before comparing with published results?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What the literature says</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
        <p:nvSpPr>
          <p:cNvPr id="4" name="Shape 2"/>
          <p:cNvSpPr/>
          <p:nvPr/>
        </p:nvSpPr>
        <p:spPr>
          <a:xfrm>
            <a:off x="457200" y="1143000"/>
            <a:ext cx="1920240" cy="1325880"/>
          </a:xfrm>
          <a:prstGeom prst="roundRect">
            <a:avLst>
              <a:gd name="adj" fmla="val 5517"/>
            </a:avLst>
          </a:prstGeom>
          <a:solidFill>
            <a:srgbClr val="F2F6F8"/>
          </a:solidFill>
          <a:ln w="12700">
            <a:solidFill>
              <a:srgbClr val="F2F6F8"/>
            </a:solidFill>
            <a:prstDash val="solid"/>
          </a:ln>
        </p:spPr>
      </p:sp>
      <p:sp>
        <p:nvSpPr>
          <p:cNvPr id="5" name="Text 3"/>
          <p:cNvSpPr txBox="1"/>
          <p:nvPr/>
        </p:nvSpPr>
        <p:spPr>
          <a:xfrm>
            <a:off x="548640" y="1234440"/>
            <a:ext cx="173736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20</a:t>
            </a:r>
            <a:endParaRPr lang="en-US" sz="3200" dirty="0"/>
          </a:p>
        </p:txBody>
      </p:sp>
      <p:sp>
        <p:nvSpPr>
          <p:cNvPr id="6" name="Text 4"/>
          <p:cNvSpPr txBox="1"/>
          <p:nvPr/>
        </p:nvSpPr>
        <p:spPr>
          <a:xfrm>
            <a:off x="5486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studies: 8 reviews, 11 experiments, 1 benchmark</a:t>
            </a:r>
            <a:endParaRPr lang="en-US" sz="1200" dirty="0"/>
          </a:p>
        </p:txBody>
      </p:sp>
      <p:sp>
        <p:nvSpPr>
          <p:cNvPr id="7" name="Shape 5"/>
          <p:cNvSpPr/>
          <p:nvPr/>
        </p:nvSpPr>
        <p:spPr>
          <a:xfrm>
            <a:off x="2514600" y="1143000"/>
            <a:ext cx="1920240" cy="1325880"/>
          </a:xfrm>
          <a:prstGeom prst="roundRect">
            <a:avLst>
              <a:gd name="adj" fmla="val 5517"/>
            </a:avLst>
          </a:prstGeom>
          <a:solidFill>
            <a:srgbClr val="F2F6F8"/>
          </a:solidFill>
          <a:ln w="12700">
            <a:solidFill>
              <a:srgbClr val="F2F6F8"/>
            </a:solidFill>
            <a:prstDash val="solid"/>
          </a:ln>
        </p:spPr>
      </p:sp>
      <p:sp>
        <p:nvSpPr>
          <p:cNvPr id="8" name="Text 6"/>
          <p:cNvSpPr txBox="1"/>
          <p:nvPr/>
        </p:nvSpPr>
        <p:spPr>
          <a:xfrm>
            <a:off x="2606040" y="1234440"/>
            <a:ext cx="173736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10 of 11</a:t>
            </a:r>
            <a:endParaRPr lang="en-US" sz="3200" dirty="0"/>
          </a:p>
        </p:txBody>
      </p:sp>
      <p:sp>
        <p:nvSpPr>
          <p:cNvPr id="9" name="Text 7"/>
          <p:cNvSpPr txBox="1"/>
          <p:nvPr/>
        </p:nvSpPr>
        <p:spPr>
          <a:xfrm>
            <a:off x="26060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experimental studies use CICIoT2023</a:t>
            </a:r>
            <a:endParaRPr lang="en-US" sz="1200" dirty="0"/>
          </a:p>
        </p:txBody>
      </p:sp>
      <p:sp>
        <p:nvSpPr>
          <p:cNvPr id="10" name="Shape 8"/>
          <p:cNvSpPr/>
          <p:nvPr/>
        </p:nvSpPr>
        <p:spPr>
          <a:xfrm>
            <a:off x="4572000" y="1143000"/>
            <a:ext cx="1920240" cy="1325880"/>
          </a:xfrm>
          <a:prstGeom prst="roundRect">
            <a:avLst>
              <a:gd name="adj" fmla="val 5517"/>
            </a:avLst>
          </a:prstGeom>
          <a:solidFill>
            <a:srgbClr val="F2F6F8"/>
          </a:solidFill>
          <a:ln w="12700">
            <a:solidFill>
              <a:srgbClr val="F2F6F8"/>
            </a:solidFill>
            <a:prstDash val="solid"/>
          </a:ln>
        </p:spPr>
      </p:sp>
      <p:sp>
        <p:nvSpPr>
          <p:cNvPr id="11" name="Text 9"/>
          <p:cNvSpPr txBox="1"/>
          <p:nvPr/>
        </p:nvSpPr>
        <p:spPr>
          <a:xfrm>
            <a:off x="4663440" y="1234440"/>
            <a:ext cx="1737360" cy="640080"/>
          </a:xfrm>
          <a:prstGeom prst="rect">
            <a:avLst/>
          </a:prstGeom>
          <a:noFill/>
          <a:ln/>
        </p:spPr>
        <p:txBody>
          <a:bodyPr wrap="square" lIns="0" tIns="0" rIns="0" bIns="0" rtlCol="0" anchor="ctr"/>
          <a:lstStyle/>
          <a:p>
            <a:pPr algn="l" indent="0" marL="0">
              <a:buNone/>
            </a:pPr>
            <a:r>
              <a:rPr lang="en-US" sz="2000" b="1" dirty="0">
                <a:solidFill>
                  <a:srgbClr val="F2A900"/>
                </a:solidFill>
                <a:latin typeface="Cambria" pitchFamily="34" charset="0"/>
                <a:ea typeface="Cambria" pitchFamily="34" charset="-122"/>
                <a:cs typeface="Cambria" pitchFamily="34" charset="-120"/>
              </a:rPr>
              <a:t>77–99.995%</a:t>
            </a:r>
            <a:endParaRPr lang="en-US" sz="2000" dirty="0"/>
          </a:p>
        </p:txBody>
      </p:sp>
      <p:sp>
        <p:nvSpPr>
          <p:cNvPr id="12" name="Text 10"/>
          <p:cNvSpPr txBox="1"/>
          <p:nvPr/>
        </p:nvSpPr>
        <p:spPr>
          <a:xfrm>
            <a:off x="46634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reported accuracy range</a:t>
            </a:r>
            <a:endParaRPr lang="en-US" sz="1200" dirty="0"/>
          </a:p>
        </p:txBody>
      </p:sp>
      <p:sp>
        <p:nvSpPr>
          <p:cNvPr id="13" name="Shape 11"/>
          <p:cNvSpPr/>
          <p:nvPr/>
        </p:nvSpPr>
        <p:spPr>
          <a:xfrm>
            <a:off x="6629400" y="1143000"/>
            <a:ext cx="2057400" cy="1325880"/>
          </a:xfrm>
          <a:prstGeom prst="roundRect">
            <a:avLst>
              <a:gd name="adj" fmla="val 5517"/>
            </a:avLst>
          </a:prstGeom>
          <a:solidFill>
            <a:srgbClr val="F2F6F8"/>
          </a:solidFill>
          <a:ln w="12700">
            <a:solidFill>
              <a:srgbClr val="F2F6F8"/>
            </a:solidFill>
            <a:prstDash val="solid"/>
          </a:ln>
        </p:spPr>
      </p:sp>
      <p:sp>
        <p:nvSpPr>
          <p:cNvPr id="14" name="Text 12"/>
          <p:cNvSpPr txBox="1"/>
          <p:nvPr/>
        </p:nvSpPr>
        <p:spPr>
          <a:xfrm>
            <a:off x="6720840" y="1234440"/>
            <a:ext cx="187452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4 of 20</a:t>
            </a:r>
            <a:endParaRPr lang="en-US" sz="3200" dirty="0"/>
          </a:p>
        </p:txBody>
      </p:sp>
      <p:sp>
        <p:nvSpPr>
          <p:cNvPr id="15" name="Text 13"/>
          <p:cNvSpPr txBox="1"/>
          <p:nvPr/>
        </p:nvSpPr>
        <p:spPr>
          <a:xfrm>
            <a:off x="6720840" y="1874520"/>
            <a:ext cx="187452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are not standard journal articles</a:t>
            </a:r>
            <a:endParaRPr lang="en-US" sz="1200" dirty="0"/>
          </a:p>
        </p:txBody>
      </p:sp>
      <p:sp>
        <p:nvSpPr>
          <p:cNvPr id="16" name="Text 14"/>
          <p:cNvSpPr txBox="1"/>
          <p:nvPr/>
        </p:nvSpPr>
        <p:spPr>
          <a:xfrm>
            <a:off x="457200" y="2560320"/>
            <a:ext cx="4114800" cy="320040"/>
          </a:xfrm>
          <a:prstGeom prst="rect">
            <a:avLst/>
          </a:prstGeom>
          <a:noFill/>
          <a:ln/>
        </p:spPr>
        <p:txBody>
          <a:bodyPr wrap="square" lIns="0" tIns="0" rIns="0" bIns="0" rtlCol="0" anchor="ctr"/>
          <a:lstStyle/>
          <a:p>
            <a:pPr indent="0" marL="0">
              <a:buNone/>
            </a:pPr>
            <a:r>
              <a:rPr lang="en-US" sz="1800" b="1" dirty="0">
                <a:solidFill>
                  <a:srgbClr val="0B1F2A"/>
                </a:solidFill>
                <a:latin typeface="Calibri" pitchFamily="34" charset="0"/>
                <a:ea typeface="Calibri" pitchFamily="34" charset="-122"/>
                <a:cs typeface="Calibri" pitchFamily="34" charset="-120"/>
              </a:rPr>
              <a:t>Recurring research gaps</a:t>
            </a:r>
            <a:endParaRPr lang="en-US" sz="1800" dirty="0"/>
          </a:p>
        </p:txBody>
      </p:sp>
      <p:sp>
        <p:nvSpPr>
          <p:cNvPr id="17" name="Text 15"/>
          <p:cNvSpPr txBox="1"/>
          <p:nvPr/>
        </p:nvSpPr>
        <p:spPr>
          <a:xfrm>
            <a:off x="457200" y="2926080"/>
            <a:ext cx="45720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733"/>
                </a:solidFill>
                <a:latin typeface="Calibri" pitchFamily="34" charset="0"/>
                <a:ea typeface="Calibri" pitchFamily="34" charset="-122"/>
                <a:cs typeface="Calibri" pitchFamily="34" charset="-120"/>
              </a:rPr>
              <a:t>No standard CICIoT2023 protocol (labels, splits, metrics)</a:t>
            </a:r>
            <a:endParaRPr lang="en-US" sz="1400" dirty="0"/>
          </a:p>
          <a:p>
            <a:pPr marL="342900" indent="-342900">
              <a:spcAft>
                <a:spcPts val="500"/>
              </a:spcAft>
              <a:buSzPct val="100000"/>
              <a:buChar char="•"/>
            </a:pPr>
            <a:r>
              <a:rPr lang="en-US" sz="1400" dirty="0">
                <a:solidFill>
                  <a:srgbClr val="1B2733"/>
                </a:solidFill>
                <a:latin typeface="Calibri" pitchFamily="34" charset="0"/>
                <a:ea typeface="Calibri" pitchFamily="34" charset="-122"/>
                <a:cs typeface="Calibri" pitchFamily="34" charset="-120"/>
              </a:rPr>
              <a:t>Rare-class detection can fall to F1 = 0.00</a:t>
            </a:r>
            <a:endParaRPr lang="en-US" sz="1400" dirty="0"/>
          </a:p>
          <a:p>
            <a:pPr marL="342900" indent="-342900">
              <a:spcAft>
                <a:spcPts val="500"/>
              </a:spcAft>
              <a:buSzPct val="100000"/>
              <a:buChar char="•"/>
            </a:pPr>
            <a:r>
              <a:rPr lang="en-US" sz="1400" dirty="0">
                <a:solidFill>
                  <a:srgbClr val="1B2733"/>
                </a:solidFill>
                <a:latin typeface="Calibri" pitchFamily="34" charset="0"/>
                <a:ea typeface="Calibri" pitchFamily="34" charset="-122"/>
                <a:cs typeface="Calibri" pitchFamily="34" charset="-120"/>
              </a:rPr>
              <a:t>Cross-dataset generalisation rarely tested</a:t>
            </a:r>
            <a:endParaRPr lang="en-US" sz="1400" dirty="0"/>
          </a:p>
          <a:p>
            <a:pPr marL="342900" indent="-342900">
              <a:spcAft>
                <a:spcPts val="500"/>
              </a:spcAft>
              <a:buSzPct val="100000"/>
              <a:buChar char="•"/>
            </a:pPr>
            <a:r>
              <a:rPr lang="en-US" sz="1400" dirty="0">
                <a:solidFill>
                  <a:srgbClr val="1B2733"/>
                </a:solidFill>
                <a:latin typeface="Calibri" pitchFamily="34" charset="0"/>
                <a:ea typeface="Calibri" pitchFamily="34" charset="-122"/>
                <a:cs typeface="Calibri" pitchFamily="34" charset="-120"/>
              </a:rPr>
              <a:t>Cost, memory and energy seldom reported</a:t>
            </a:r>
            <a:endParaRPr lang="en-US" sz="1400" dirty="0"/>
          </a:p>
          <a:p>
            <a:pPr marL="342900" indent="-342900">
              <a:spcAft>
                <a:spcPts val="500"/>
              </a:spcAft>
              <a:buSzPct val="100000"/>
              <a:buChar char="•"/>
            </a:pPr>
            <a:r>
              <a:rPr lang="en-US" sz="1400" dirty="0">
                <a:solidFill>
                  <a:srgbClr val="1B2733"/>
                </a:solidFill>
                <a:latin typeface="Calibri" pitchFamily="34" charset="0"/>
                <a:ea typeface="Calibri" pitchFamily="34" charset="-122"/>
                <a:cs typeface="Calibri" pitchFamily="34" charset="-120"/>
              </a:rPr>
              <a:t>Robustness and production validation are scarce</a:t>
            </a:r>
            <a:endParaRPr lang="en-US" sz="1400" dirty="0"/>
          </a:p>
        </p:txBody>
      </p:sp>
      <p:sp>
        <p:nvSpPr>
          <p:cNvPr id="18" name="Shape 16"/>
          <p:cNvSpPr/>
          <p:nvPr/>
        </p:nvSpPr>
        <p:spPr>
          <a:xfrm>
            <a:off x="5303520" y="2560320"/>
            <a:ext cx="3383280" cy="2103120"/>
          </a:xfrm>
          <a:prstGeom prst="roundRect">
            <a:avLst>
              <a:gd name="adj" fmla="val 3478"/>
            </a:avLst>
          </a:prstGeom>
          <a:solidFill>
            <a:srgbClr val="F2F6F8"/>
          </a:solidFill>
          <a:ln w="12700">
            <a:solidFill>
              <a:srgbClr val="F2F6F8"/>
            </a:solidFill>
            <a:prstDash val="solid"/>
          </a:ln>
        </p:spPr>
      </p:sp>
      <p:sp>
        <p:nvSpPr>
          <p:cNvPr id="19" name="Text 17"/>
          <p:cNvSpPr txBox="1"/>
          <p:nvPr/>
        </p:nvSpPr>
        <p:spPr>
          <a:xfrm>
            <a:off x="5486400" y="2697480"/>
            <a:ext cx="3017520" cy="274320"/>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Why it matters here</a:t>
            </a:r>
            <a:endParaRPr lang="en-US" sz="1400" dirty="0"/>
          </a:p>
        </p:txBody>
      </p:sp>
      <p:sp>
        <p:nvSpPr>
          <p:cNvPr id="20" name="Text 18"/>
          <p:cNvSpPr txBox="1"/>
          <p:nvPr/>
        </p:nvSpPr>
        <p:spPr>
          <a:xfrm>
            <a:off x="5486400" y="3017520"/>
            <a:ext cx="301752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Similar-looking accuracy figures come from very different tasks (binary to 34 classes). This project therefore reports macro metrics and cost, and compares with the literature cautiously.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Dataset and experimental setup</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457200" y="1143000"/>
            <a:ext cx="1920240" cy="1325880"/>
          </a:xfrm>
          <a:prstGeom prst="roundRect">
            <a:avLst>
              <a:gd name="adj" fmla="val 5517"/>
            </a:avLst>
          </a:prstGeom>
          <a:solidFill>
            <a:srgbClr val="F2F6F8"/>
          </a:solidFill>
          <a:ln w="12700">
            <a:solidFill>
              <a:srgbClr val="F2F6F8"/>
            </a:solidFill>
            <a:prstDash val="solid"/>
          </a:ln>
        </p:spPr>
      </p:sp>
      <p:sp>
        <p:nvSpPr>
          <p:cNvPr id="5" name="Text 3"/>
          <p:cNvSpPr txBox="1"/>
          <p:nvPr/>
        </p:nvSpPr>
        <p:spPr>
          <a:xfrm>
            <a:off x="548640" y="1234440"/>
            <a:ext cx="173736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80,000</a:t>
            </a:r>
            <a:endParaRPr lang="en-US" sz="3200" dirty="0"/>
          </a:p>
        </p:txBody>
      </p:sp>
      <p:sp>
        <p:nvSpPr>
          <p:cNvPr id="6" name="Text 4"/>
          <p:cNvSpPr txBox="1"/>
          <p:nvPr/>
        </p:nvSpPr>
        <p:spPr>
          <a:xfrm>
            <a:off x="5486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balanced training pool (10,000 per class)</a:t>
            </a:r>
            <a:endParaRPr lang="en-US" sz="1200" dirty="0"/>
          </a:p>
        </p:txBody>
      </p:sp>
      <p:sp>
        <p:nvSpPr>
          <p:cNvPr id="7" name="Shape 5"/>
          <p:cNvSpPr/>
          <p:nvPr/>
        </p:nvSpPr>
        <p:spPr>
          <a:xfrm>
            <a:off x="2514600" y="1143000"/>
            <a:ext cx="1920240" cy="1325880"/>
          </a:xfrm>
          <a:prstGeom prst="roundRect">
            <a:avLst>
              <a:gd name="adj" fmla="val 5517"/>
            </a:avLst>
          </a:prstGeom>
          <a:solidFill>
            <a:srgbClr val="F2F6F8"/>
          </a:solidFill>
          <a:ln w="12700">
            <a:solidFill>
              <a:srgbClr val="F2F6F8"/>
            </a:solidFill>
            <a:prstDash val="solid"/>
          </a:ln>
        </p:spPr>
      </p:sp>
      <p:sp>
        <p:nvSpPr>
          <p:cNvPr id="8" name="Text 6"/>
          <p:cNvSpPr txBox="1"/>
          <p:nvPr/>
        </p:nvSpPr>
        <p:spPr>
          <a:xfrm>
            <a:off x="2606040" y="1234440"/>
            <a:ext cx="173736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268,463</a:t>
            </a:r>
            <a:endParaRPr lang="en-US" sz="3200" dirty="0"/>
          </a:p>
        </p:txBody>
      </p:sp>
      <p:sp>
        <p:nvSpPr>
          <p:cNvPr id="9" name="Text 7"/>
          <p:cNvSpPr txBox="1"/>
          <p:nvPr/>
        </p:nvSpPr>
        <p:spPr>
          <a:xfrm>
            <a:off x="26060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test flows, natural class distribution</a:t>
            </a:r>
            <a:endParaRPr lang="en-US" sz="1200" dirty="0"/>
          </a:p>
        </p:txBody>
      </p:sp>
      <p:sp>
        <p:nvSpPr>
          <p:cNvPr id="10" name="Shape 8"/>
          <p:cNvSpPr/>
          <p:nvPr/>
        </p:nvSpPr>
        <p:spPr>
          <a:xfrm>
            <a:off x="4572000" y="1143000"/>
            <a:ext cx="1920240" cy="1325880"/>
          </a:xfrm>
          <a:prstGeom prst="roundRect">
            <a:avLst>
              <a:gd name="adj" fmla="val 5517"/>
            </a:avLst>
          </a:prstGeom>
          <a:solidFill>
            <a:srgbClr val="F2F6F8"/>
          </a:solidFill>
          <a:ln w="12700">
            <a:solidFill>
              <a:srgbClr val="F2F6F8"/>
            </a:solidFill>
            <a:prstDash val="solid"/>
          </a:ln>
        </p:spPr>
      </p:sp>
      <p:sp>
        <p:nvSpPr>
          <p:cNvPr id="11" name="Text 9"/>
          <p:cNvSpPr txBox="1"/>
          <p:nvPr/>
        </p:nvSpPr>
        <p:spPr>
          <a:xfrm>
            <a:off x="4663440" y="1234440"/>
            <a:ext cx="173736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39</a:t>
            </a:r>
            <a:endParaRPr lang="en-US" sz="3200" dirty="0"/>
          </a:p>
        </p:txBody>
      </p:sp>
      <p:sp>
        <p:nvSpPr>
          <p:cNvPr id="12" name="Text 10"/>
          <p:cNvSpPr txBox="1"/>
          <p:nvPr/>
        </p:nvSpPr>
        <p:spPr>
          <a:xfrm>
            <a:off x="4663440" y="1874520"/>
            <a:ext cx="17373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standardised numerical features</a:t>
            </a:r>
            <a:endParaRPr lang="en-US" sz="1200" dirty="0"/>
          </a:p>
        </p:txBody>
      </p:sp>
      <p:sp>
        <p:nvSpPr>
          <p:cNvPr id="13" name="Shape 11"/>
          <p:cNvSpPr/>
          <p:nvPr/>
        </p:nvSpPr>
        <p:spPr>
          <a:xfrm>
            <a:off x="6629400" y="1143000"/>
            <a:ext cx="2057400" cy="1325880"/>
          </a:xfrm>
          <a:prstGeom prst="roundRect">
            <a:avLst>
              <a:gd name="adj" fmla="val 5517"/>
            </a:avLst>
          </a:prstGeom>
          <a:solidFill>
            <a:srgbClr val="F2F6F8"/>
          </a:solidFill>
          <a:ln w="12700">
            <a:solidFill>
              <a:srgbClr val="F2F6F8"/>
            </a:solidFill>
            <a:prstDash val="solid"/>
          </a:ln>
        </p:spPr>
      </p:sp>
      <p:sp>
        <p:nvSpPr>
          <p:cNvPr id="14" name="Text 12"/>
          <p:cNvSpPr txBox="1"/>
          <p:nvPr/>
        </p:nvSpPr>
        <p:spPr>
          <a:xfrm>
            <a:off x="6720840" y="1234440"/>
            <a:ext cx="1874520" cy="640080"/>
          </a:xfrm>
          <a:prstGeom prst="rect">
            <a:avLst/>
          </a:prstGeom>
          <a:noFill/>
          <a:ln/>
        </p:spPr>
        <p:txBody>
          <a:bodyPr wrap="square" lIns="0" tIns="0" rIns="0" bIns="0" rtlCol="0" anchor="ctr"/>
          <a:lstStyle/>
          <a:p>
            <a:pPr algn="l" indent="0" marL="0">
              <a:buNone/>
            </a:pPr>
            <a:r>
              <a:rPr lang="en-US" sz="3200" b="1" dirty="0">
                <a:solidFill>
                  <a:srgbClr val="F2A900"/>
                </a:solidFill>
                <a:latin typeface="Cambria" pitchFamily="34" charset="0"/>
                <a:ea typeface="Cambria" pitchFamily="34" charset="-122"/>
                <a:cs typeface="Cambria" pitchFamily="34" charset="-120"/>
              </a:rPr>
              <a:t>8</a:t>
            </a:r>
            <a:endParaRPr lang="en-US" sz="3200" dirty="0"/>
          </a:p>
        </p:txBody>
      </p:sp>
      <p:sp>
        <p:nvSpPr>
          <p:cNvPr id="15" name="Text 13"/>
          <p:cNvSpPr txBox="1"/>
          <p:nvPr/>
        </p:nvSpPr>
        <p:spPr>
          <a:xfrm>
            <a:off x="6720840" y="1874520"/>
            <a:ext cx="187452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classes</a:t>
            </a:r>
            <a:endParaRPr lang="en-US" sz="1200" dirty="0"/>
          </a:p>
        </p:txBody>
      </p:sp>
      <p:sp>
        <p:nvSpPr>
          <p:cNvPr id="16" name="Shape 14"/>
          <p:cNvSpPr/>
          <p:nvPr/>
        </p:nvSpPr>
        <p:spPr>
          <a:xfrm>
            <a:off x="457200" y="2697480"/>
            <a:ext cx="1280160" cy="731520"/>
          </a:xfrm>
          <a:prstGeom prst="roundRect">
            <a:avLst>
              <a:gd name="adj" fmla="val 10000"/>
            </a:avLst>
          </a:prstGeom>
          <a:solidFill>
            <a:srgbClr val="0B1F2A"/>
          </a:solidFill>
          <a:ln w="12700">
            <a:solidFill>
              <a:srgbClr val="0B1F2A"/>
            </a:solidFill>
            <a:prstDash val="solid"/>
          </a:ln>
        </p:spPr>
      </p:sp>
      <p:sp>
        <p:nvSpPr>
          <p:cNvPr id="17" name="Text 15"/>
          <p:cNvSpPr txBox="1"/>
          <p:nvPr/>
        </p:nvSpPr>
        <p:spPr>
          <a:xfrm>
            <a:off x="502920"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Prepare data</a:t>
            </a:r>
            <a:endParaRPr lang="en-US" sz="1200" dirty="0"/>
          </a:p>
        </p:txBody>
      </p:sp>
      <p:sp>
        <p:nvSpPr>
          <p:cNvPr id="18" name="Text 16"/>
          <p:cNvSpPr txBox="1"/>
          <p:nvPr/>
        </p:nvSpPr>
        <p:spPr>
          <a:xfrm>
            <a:off x="1719072" y="2834640"/>
            <a:ext cx="146304" cy="457200"/>
          </a:xfrm>
          <a:prstGeom prst="rect">
            <a:avLst/>
          </a:prstGeom>
          <a:noFill/>
          <a:ln/>
        </p:spPr>
        <p:txBody>
          <a:bodyPr wrap="square" lIns="0" tIns="0" rIns="0" bIns="0" rtlCol="0" anchor="ctr"/>
          <a:lstStyle/>
          <a:p>
            <a:pPr algn="ctr" indent="0" marL="0">
              <a:buNone/>
            </a:pPr>
            <a:r>
              <a:rPr lang="en-US" sz="2000" b="1" dirty="0">
                <a:solidFill>
                  <a:srgbClr val="1AA89A"/>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1847088" y="2697480"/>
            <a:ext cx="1280160" cy="731520"/>
          </a:xfrm>
          <a:prstGeom prst="roundRect">
            <a:avLst>
              <a:gd name="adj" fmla="val 10000"/>
            </a:avLst>
          </a:prstGeom>
          <a:solidFill>
            <a:srgbClr val="0B1F2A"/>
          </a:solidFill>
          <a:ln w="12700">
            <a:solidFill>
              <a:srgbClr val="0B1F2A"/>
            </a:solidFill>
            <a:prstDash val="solid"/>
          </a:ln>
        </p:spPr>
      </p:sp>
      <p:sp>
        <p:nvSpPr>
          <p:cNvPr id="20" name="Text 18"/>
          <p:cNvSpPr txBox="1"/>
          <p:nvPr/>
        </p:nvSpPr>
        <p:spPr>
          <a:xfrm>
            <a:off x="1892808"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Balance training pool</a:t>
            </a:r>
            <a:endParaRPr lang="en-US" sz="1200" dirty="0"/>
          </a:p>
        </p:txBody>
      </p:sp>
      <p:sp>
        <p:nvSpPr>
          <p:cNvPr id="21" name="Text 19"/>
          <p:cNvSpPr txBox="1"/>
          <p:nvPr/>
        </p:nvSpPr>
        <p:spPr>
          <a:xfrm>
            <a:off x="3108960" y="2834640"/>
            <a:ext cx="146304" cy="457200"/>
          </a:xfrm>
          <a:prstGeom prst="rect">
            <a:avLst/>
          </a:prstGeom>
          <a:noFill/>
          <a:ln/>
        </p:spPr>
        <p:txBody>
          <a:bodyPr wrap="square" lIns="0" tIns="0" rIns="0" bIns="0" rtlCol="0" anchor="ctr"/>
          <a:lstStyle/>
          <a:p>
            <a:pPr algn="ctr" indent="0" marL="0">
              <a:buNone/>
            </a:pPr>
            <a:r>
              <a:rPr lang="en-US" sz="2000" b="1" dirty="0">
                <a:solidFill>
                  <a:srgbClr val="1AA89A"/>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3236976" y="2697480"/>
            <a:ext cx="1280160" cy="731520"/>
          </a:xfrm>
          <a:prstGeom prst="roundRect">
            <a:avLst>
              <a:gd name="adj" fmla="val 10000"/>
            </a:avLst>
          </a:prstGeom>
          <a:solidFill>
            <a:srgbClr val="0B1F2A"/>
          </a:solidFill>
          <a:ln w="12700">
            <a:solidFill>
              <a:srgbClr val="0B1F2A"/>
            </a:solidFill>
            <a:prstDash val="solid"/>
          </a:ln>
        </p:spPr>
      </p:sp>
      <p:sp>
        <p:nvSpPr>
          <p:cNvPr id="23" name="Text 21"/>
          <p:cNvSpPr txBox="1"/>
          <p:nvPr/>
        </p:nvSpPr>
        <p:spPr>
          <a:xfrm>
            <a:off x="3282696"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80/20 stratified split</a:t>
            </a:r>
            <a:endParaRPr lang="en-US" sz="1200" dirty="0"/>
          </a:p>
        </p:txBody>
      </p:sp>
      <p:sp>
        <p:nvSpPr>
          <p:cNvPr id="24" name="Text 22"/>
          <p:cNvSpPr txBox="1"/>
          <p:nvPr/>
        </p:nvSpPr>
        <p:spPr>
          <a:xfrm>
            <a:off x="4498848" y="2834640"/>
            <a:ext cx="146304" cy="457200"/>
          </a:xfrm>
          <a:prstGeom prst="rect">
            <a:avLst/>
          </a:prstGeom>
          <a:noFill/>
          <a:ln/>
        </p:spPr>
        <p:txBody>
          <a:bodyPr wrap="square" lIns="0" tIns="0" rIns="0" bIns="0" rtlCol="0" anchor="ctr"/>
          <a:lstStyle/>
          <a:p>
            <a:pPr algn="ctr" indent="0" marL="0">
              <a:buNone/>
            </a:pPr>
            <a:r>
              <a:rPr lang="en-US" sz="2000" b="1" dirty="0">
                <a:solidFill>
                  <a:srgbClr val="1AA89A"/>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4626864" y="2697480"/>
            <a:ext cx="1280160" cy="731520"/>
          </a:xfrm>
          <a:prstGeom prst="roundRect">
            <a:avLst>
              <a:gd name="adj" fmla="val 10000"/>
            </a:avLst>
          </a:prstGeom>
          <a:solidFill>
            <a:srgbClr val="0B1F2A"/>
          </a:solidFill>
          <a:ln w="12700">
            <a:solidFill>
              <a:srgbClr val="0B1F2A"/>
            </a:solidFill>
            <a:prstDash val="solid"/>
          </a:ln>
        </p:spPr>
      </p:sp>
      <p:sp>
        <p:nvSpPr>
          <p:cNvPr id="26" name="Text 24"/>
          <p:cNvSpPr txBox="1"/>
          <p:nvPr/>
        </p:nvSpPr>
        <p:spPr>
          <a:xfrm>
            <a:off x="4672584"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Scale features</a:t>
            </a:r>
            <a:endParaRPr lang="en-US" sz="1200" dirty="0"/>
          </a:p>
        </p:txBody>
      </p:sp>
      <p:sp>
        <p:nvSpPr>
          <p:cNvPr id="27" name="Text 25"/>
          <p:cNvSpPr txBox="1"/>
          <p:nvPr/>
        </p:nvSpPr>
        <p:spPr>
          <a:xfrm>
            <a:off x="5888736" y="2834640"/>
            <a:ext cx="146304" cy="457200"/>
          </a:xfrm>
          <a:prstGeom prst="rect">
            <a:avLst/>
          </a:prstGeom>
          <a:noFill/>
          <a:ln/>
        </p:spPr>
        <p:txBody>
          <a:bodyPr wrap="square" lIns="0" tIns="0" rIns="0" bIns="0" rtlCol="0" anchor="ctr"/>
          <a:lstStyle/>
          <a:p>
            <a:pPr algn="ctr" indent="0" marL="0">
              <a:buNone/>
            </a:pPr>
            <a:r>
              <a:rPr lang="en-US" sz="2000" b="1" dirty="0">
                <a:solidFill>
                  <a:srgbClr val="1AA89A"/>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6016752" y="2697480"/>
            <a:ext cx="1280160" cy="731520"/>
          </a:xfrm>
          <a:prstGeom prst="roundRect">
            <a:avLst>
              <a:gd name="adj" fmla="val 10000"/>
            </a:avLst>
          </a:prstGeom>
          <a:solidFill>
            <a:srgbClr val="0B1F2A"/>
          </a:solidFill>
          <a:ln w="12700">
            <a:solidFill>
              <a:srgbClr val="0B1F2A"/>
            </a:solidFill>
            <a:prstDash val="solid"/>
          </a:ln>
        </p:spPr>
      </p:sp>
      <p:sp>
        <p:nvSpPr>
          <p:cNvPr id="29" name="Text 27"/>
          <p:cNvSpPr txBox="1"/>
          <p:nvPr/>
        </p:nvSpPr>
        <p:spPr>
          <a:xfrm>
            <a:off x="6062472"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7 models</a:t>
            </a:r>
            <a:endParaRPr lang="en-US" sz="1200" dirty="0"/>
          </a:p>
        </p:txBody>
      </p:sp>
      <p:sp>
        <p:nvSpPr>
          <p:cNvPr id="30" name="Text 28"/>
          <p:cNvSpPr txBox="1"/>
          <p:nvPr/>
        </p:nvSpPr>
        <p:spPr>
          <a:xfrm>
            <a:off x="7278624" y="2834640"/>
            <a:ext cx="146304" cy="457200"/>
          </a:xfrm>
          <a:prstGeom prst="rect">
            <a:avLst/>
          </a:prstGeom>
          <a:noFill/>
          <a:ln/>
        </p:spPr>
        <p:txBody>
          <a:bodyPr wrap="square" lIns="0" tIns="0" rIns="0" bIns="0" rtlCol="0" anchor="ctr"/>
          <a:lstStyle/>
          <a:p>
            <a:pPr algn="ctr" indent="0" marL="0">
              <a:buNone/>
            </a:pPr>
            <a:r>
              <a:rPr lang="en-US" sz="2000" b="1" dirty="0">
                <a:solidFill>
                  <a:srgbClr val="1AA89A"/>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7406640" y="2697480"/>
            <a:ext cx="1280160" cy="731520"/>
          </a:xfrm>
          <a:prstGeom prst="roundRect">
            <a:avLst>
              <a:gd name="adj" fmla="val 10000"/>
            </a:avLst>
          </a:prstGeom>
          <a:solidFill>
            <a:srgbClr val="0B1F2A"/>
          </a:solidFill>
          <a:ln w="12700">
            <a:solidFill>
              <a:srgbClr val="0B1F2A"/>
            </a:solidFill>
            <a:prstDash val="solid"/>
          </a:ln>
        </p:spPr>
      </p:sp>
      <p:sp>
        <p:nvSpPr>
          <p:cNvPr id="32" name="Text 30"/>
          <p:cNvSpPr txBox="1"/>
          <p:nvPr/>
        </p:nvSpPr>
        <p:spPr>
          <a:xfrm>
            <a:off x="7452360" y="2697480"/>
            <a:ext cx="11887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Evaluate on test set</a:t>
            </a:r>
            <a:endParaRPr lang="en-US" sz="1200" dirty="0"/>
          </a:p>
        </p:txBody>
      </p:sp>
      <p:sp>
        <p:nvSpPr>
          <p:cNvPr id="33" name="Text 31"/>
          <p:cNvSpPr txBox="1"/>
          <p:nvPr/>
        </p:nvSpPr>
        <p:spPr>
          <a:xfrm>
            <a:off x="457200" y="3611880"/>
            <a:ext cx="1097280" cy="274320"/>
          </a:xfrm>
          <a:prstGeom prst="rect">
            <a:avLst/>
          </a:prstGeom>
          <a:noFill/>
          <a:ln/>
        </p:spPr>
        <p:txBody>
          <a:bodyPr wrap="square" lIns="0" tIns="0" rIns="0" bIns="0" rtlCol="0" anchor="ctr"/>
          <a:lstStyle/>
          <a:p>
            <a:pPr indent="0" marL="0">
              <a:buNone/>
            </a:pPr>
            <a:r>
              <a:rPr lang="en-US" sz="1400" b="1" dirty="0">
                <a:solidFill>
                  <a:srgbClr val="0B1F2A"/>
                </a:solidFill>
                <a:latin typeface="Calibri" pitchFamily="34" charset="0"/>
                <a:ea typeface="Calibri" pitchFamily="34" charset="-122"/>
                <a:cs typeface="Calibri" pitchFamily="34" charset="-120"/>
              </a:rPr>
              <a:t>Classes</a:t>
            </a:r>
            <a:endParaRPr lang="en-US" sz="1400" dirty="0"/>
          </a:p>
        </p:txBody>
      </p:sp>
      <p:sp>
        <p:nvSpPr>
          <p:cNvPr id="34" name="Shape 32"/>
          <p:cNvSpPr/>
          <p:nvPr/>
        </p:nvSpPr>
        <p:spPr>
          <a:xfrm>
            <a:off x="457200" y="3931920"/>
            <a:ext cx="960120" cy="365760"/>
          </a:xfrm>
          <a:prstGeom prst="roundRect">
            <a:avLst>
              <a:gd name="adj" fmla="val 50000"/>
            </a:avLst>
          </a:prstGeom>
          <a:solidFill>
            <a:srgbClr val="F2F6F8"/>
          </a:solidFill>
          <a:ln w="9525">
            <a:solidFill>
              <a:srgbClr val="8AA1B1"/>
            </a:solidFill>
            <a:prstDash val="solid"/>
          </a:ln>
        </p:spPr>
      </p:sp>
      <p:sp>
        <p:nvSpPr>
          <p:cNvPr id="35" name="Text 33"/>
          <p:cNvSpPr txBox="1"/>
          <p:nvPr/>
        </p:nvSpPr>
        <p:spPr>
          <a:xfrm>
            <a:off x="457200"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Benign</a:t>
            </a:r>
            <a:endParaRPr lang="en-US" sz="1200" dirty="0"/>
          </a:p>
        </p:txBody>
      </p:sp>
      <p:sp>
        <p:nvSpPr>
          <p:cNvPr id="36" name="Shape 34"/>
          <p:cNvSpPr/>
          <p:nvPr/>
        </p:nvSpPr>
        <p:spPr>
          <a:xfrm>
            <a:off x="1499616" y="3931920"/>
            <a:ext cx="960120" cy="365760"/>
          </a:xfrm>
          <a:prstGeom prst="roundRect">
            <a:avLst>
              <a:gd name="adj" fmla="val 50000"/>
            </a:avLst>
          </a:prstGeom>
          <a:solidFill>
            <a:srgbClr val="F2F6F8"/>
          </a:solidFill>
          <a:ln w="9525">
            <a:solidFill>
              <a:srgbClr val="8AA1B1"/>
            </a:solidFill>
            <a:prstDash val="solid"/>
          </a:ln>
        </p:spPr>
      </p:sp>
      <p:sp>
        <p:nvSpPr>
          <p:cNvPr id="37" name="Text 35"/>
          <p:cNvSpPr txBox="1"/>
          <p:nvPr/>
        </p:nvSpPr>
        <p:spPr>
          <a:xfrm>
            <a:off x="1499616"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BruteForce</a:t>
            </a:r>
            <a:endParaRPr lang="en-US" sz="1200" dirty="0"/>
          </a:p>
        </p:txBody>
      </p:sp>
      <p:sp>
        <p:nvSpPr>
          <p:cNvPr id="38" name="Shape 36"/>
          <p:cNvSpPr/>
          <p:nvPr/>
        </p:nvSpPr>
        <p:spPr>
          <a:xfrm>
            <a:off x="2542032" y="3931920"/>
            <a:ext cx="960120" cy="365760"/>
          </a:xfrm>
          <a:prstGeom prst="roundRect">
            <a:avLst>
              <a:gd name="adj" fmla="val 50000"/>
            </a:avLst>
          </a:prstGeom>
          <a:solidFill>
            <a:srgbClr val="F2F6F8"/>
          </a:solidFill>
          <a:ln w="9525">
            <a:solidFill>
              <a:srgbClr val="8AA1B1"/>
            </a:solidFill>
            <a:prstDash val="solid"/>
          </a:ln>
        </p:spPr>
      </p:sp>
      <p:sp>
        <p:nvSpPr>
          <p:cNvPr id="39" name="Text 37"/>
          <p:cNvSpPr txBox="1"/>
          <p:nvPr/>
        </p:nvSpPr>
        <p:spPr>
          <a:xfrm>
            <a:off x="2542032"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DDoS</a:t>
            </a:r>
            <a:endParaRPr lang="en-US" sz="1200" dirty="0"/>
          </a:p>
        </p:txBody>
      </p:sp>
      <p:sp>
        <p:nvSpPr>
          <p:cNvPr id="40" name="Shape 38"/>
          <p:cNvSpPr/>
          <p:nvPr/>
        </p:nvSpPr>
        <p:spPr>
          <a:xfrm>
            <a:off x="3584448" y="3931920"/>
            <a:ext cx="960120" cy="365760"/>
          </a:xfrm>
          <a:prstGeom prst="roundRect">
            <a:avLst>
              <a:gd name="adj" fmla="val 50000"/>
            </a:avLst>
          </a:prstGeom>
          <a:solidFill>
            <a:srgbClr val="F2F6F8"/>
          </a:solidFill>
          <a:ln w="9525">
            <a:solidFill>
              <a:srgbClr val="8AA1B1"/>
            </a:solidFill>
            <a:prstDash val="solid"/>
          </a:ln>
        </p:spPr>
      </p:sp>
      <p:sp>
        <p:nvSpPr>
          <p:cNvPr id="41" name="Text 39"/>
          <p:cNvSpPr txBox="1"/>
          <p:nvPr/>
        </p:nvSpPr>
        <p:spPr>
          <a:xfrm>
            <a:off x="3584448"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DoS</a:t>
            </a:r>
            <a:endParaRPr lang="en-US" sz="1200" dirty="0"/>
          </a:p>
        </p:txBody>
      </p:sp>
      <p:sp>
        <p:nvSpPr>
          <p:cNvPr id="42" name="Shape 40"/>
          <p:cNvSpPr/>
          <p:nvPr/>
        </p:nvSpPr>
        <p:spPr>
          <a:xfrm>
            <a:off x="4626864" y="3931920"/>
            <a:ext cx="960120" cy="365760"/>
          </a:xfrm>
          <a:prstGeom prst="roundRect">
            <a:avLst>
              <a:gd name="adj" fmla="val 50000"/>
            </a:avLst>
          </a:prstGeom>
          <a:solidFill>
            <a:srgbClr val="F2F6F8"/>
          </a:solidFill>
          <a:ln w="9525">
            <a:solidFill>
              <a:srgbClr val="8AA1B1"/>
            </a:solidFill>
            <a:prstDash val="solid"/>
          </a:ln>
        </p:spPr>
      </p:sp>
      <p:sp>
        <p:nvSpPr>
          <p:cNvPr id="43" name="Text 41"/>
          <p:cNvSpPr txBox="1"/>
          <p:nvPr/>
        </p:nvSpPr>
        <p:spPr>
          <a:xfrm>
            <a:off x="4626864"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Mirai</a:t>
            </a:r>
            <a:endParaRPr lang="en-US" sz="1200" dirty="0"/>
          </a:p>
        </p:txBody>
      </p:sp>
      <p:sp>
        <p:nvSpPr>
          <p:cNvPr id="44" name="Shape 42"/>
          <p:cNvSpPr/>
          <p:nvPr/>
        </p:nvSpPr>
        <p:spPr>
          <a:xfrm>
            <a:off x="5669280" y="3931920"/>
            <a:ext cx="960120" cy="365760"/>
          </a:xfrm>
          <a:prstGeom prst="roundRect">
            <a:avLst>
              <a:gd name="adj" fmla="val 50000"/>
            </a:avLst>
          </a:prstGeom>
          <a:solidFill>
            <a:srgbClr val="F2F6F8"/>
          </a:solidFill>
          <a:ln w="9525">
            <a:solidFill>
              <a:srgbClr val="8AA1B1"/>
            </a:solidFill>
            <a:prstDash val="solid"/>
          </a:ln>
        </p:spPr>
      </p:sp>
      <p:sp>
        <p:nvSpPr>
          <p:cNvPr id="45" name="Text 43"/>
          <p:cNvSpPr txBox="1"/>
          <p:nvPr/>
        </p:nvSpPr>
        <p:spPr>
          <a:xfrm>
            <a:off x="5669280"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Recon</a:t>
            </a:r>
            <a:endParaRPr lang="en-US" sz="1200" dirty="0"/>
          </a:p>
        </p:txBody>
      </p:sp>
      <p:sp>
        <p:nvSpPr>
          <p:cNvPr id="46" name="Shape 44"/>
          <p:cNvSpPr/>
          <p:nvPr/>
        </p:nvSpPr>
        <p:spPr>
          <a:xfrm>
            <a:off x="6711696" y="3931920"/>
            <a:ext cx="960120" cy="365760"/>
          </a:xfrm>
          <a:prstGeom prst="roundRect">
            <a:avLst>
              <a:gd name="adj" fmla="val 50000"/>
            </a:avLst>
          </a:prstGeom>
          <a:solidFill>
            <a:srgbClr val="F2F6F8"/>
          </a:solidFill>
          <a:ln w="9525">
            <a:solidFill>
              <a:srgbClr val="8AA1B1"/>
            </a:solidFill>
            <a:prstDash val="solid"/>
          </a:ln>
        </p:spPr>
      </p:sp>
      <p:sp>
        <p:nvSpPr>
          <p:cNvPr id="47" name="Text 45"/>
          <p:cNvSpPr txBox="1"/>
          <p:nvPr/>
        </p:nvSpPr>
        <p:spPr>
          <a:xfrm>
            <a:off x="6711696"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Spoofing</a:t>
            </a:r>
            <a:endParaRPr lang="en-US" sz="1200" dirty="0"/>
          </a:p>
        </p:txBody>
      </p:sp>
      <p:sp>
        <p:nvSpPr>
          <p:cNvPr id="48" name="Shape 46"/>
          <p:cNvSpPr/>
          <p:nvPr/>
        </p:nvSpPr>
        <p:spPr>
          <a:xfrm>
            <a:off x="7754112" y="3931920"/>
            <a:ext cx="960120" cy="365760"/>
          </a:xfrm>
          <a:prstGeom prst="roundRect">
            <a:avLst>
              <a:gd name="adj" fmla="val 50000"/>
            </a:avLst>
          </a:prstGeom>
          <a:solidFill>
            <a:srgbClr val="F2F6F8"/>
          </a:solidFill>
          <a:ln w="9525">
            <a:solidFill>
              <a:srgbClr val="8AA1B1"/>
            </a:solidFill>
            <a:prstDash val="solid"/>
          </a:ln>
        </p:spPr>
      </p:sp>
      <p:sp>
        <p:nvSpPr>
          <p:cNvPr id="49" name="Text 47"/>
          <p:cNvSpPr txBox="1"/>
          <p:nvPr/>
        </p:nvSpPr>
        <p:spPr>
          <a:xfrm>
            <a:off x="7754112" y="3931920"/>
            <a:ext cx="960120" cy="365760"/>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Web-based</a:t>
            </a:r>
            <a:endParaRPr lang="en-US" sz="1200" dirty="0"/>
          </a:p>
        </p:txBody>
      </p:sp>
      <p:sp>
        <p:nvSpPr>
          <p:cNvPr id="50" name="Text 48"/>
          <p:cNvSpPr txBox="1"/>
          <p:nvPr/>
        </p:nvSpPr>
        <p:spPr>
          <a:xfrm>
            <a:off x="457200" y="4389120"/>
            <a:ext cx="7498080" cy="274320"/>
          </a:xfrm>
          <a:prstGeom prst="rect">
            <a:avLst/>
          </a:prstGeom>
          <a:noFill/>
          <a:ln/>
        </p:spPr>
        <p:txBody>
          <a:bodyPr wrap="square" lIns="0" tIns="0" rIns="0" bIns="0"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Same preprocessing and evaluation for every model, so differences reflect architecture and training setup.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Three architecture families, seven models</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
        <p:nvSpPr>
          <p:cNvPr id="4" name="Shape 2"/>
          <p:cNvSpPr/>
          <p:nvPr/>
        </p:nvSpPr>
        <p:spPr>
          <a:xfrm>
            <a:off x="457200" y="1188720"/>
            <a:ext cx="2651760" cy="3429000"/>
          </a:xfrm>
          <a:prstGeom prst="roundRect">
            <a:avLst>
              <a:gd name="adj" fmla="val 2759"/>
            </a:avLst>
          </a:prstGeom>
          <a:solidFill>
            <a:srgbClr val="F2F6F8"/>
          </a:solidFill>
          <a:ln w="12700">
            <a:solidFill>
              <a:srgbClr val="F2F6F8"/>
            </a:solidFill>
            <a:prstDash val="solid"/>
          </a:ln>
        </p:spPr>
      </p:sp>
      <p:sp>
        <p:nvSpPr>
          <p:cNvPr id="5" name="Text 3"/>
          <p:cNvSpPr txBox="1"/>
          <p:nvPr/>
        </p:nvSpPr>
        <p:spPr>
          <a:xfrm>
            <a:off x="640080" y="1325880"/>
            <a:ext cx="2286000" cy="365760"/>
          </a:xfrm>
          <a:prstGeom prst="rect">
            <a:avLst/>
          </a:prstGeom>
          <a:noFill/>
          <a:ln/>
        </p:spPr>
        <p:txBody>
          <a:bodyPr wrap="square" lIns="0" tIns="0" rIns="0" bIns="0" rtlCol="0" anchor="ctr"/>
          <a:lstStyle/>
          <a:p>
            <a:pPr indent="0" marL="0">
              <a:buNone/>
            </a:pPr>
            <a:r>
              <a:rPr lang="en-US" sz="2000" b="1" dirty="0">
                <a:solidFill>
                  <a:srgbClr val="0B1F2A"/>
                </a:solidFill>
                <a:latin typeface="Cambria" pitchFamily="34" charset="0"/>
                <a:ea typeface="Cambria" pitchFamily="34" charset="-122"/>
                <a:cs typeface="Cambria" pitchFamily="34" charset="-120"/>
              </a:rPr>
              <a:t>Feed-forward</a:t>
            </a:r>
            <a:endParaRPr lang="en-US" sz="2000" dirty="0"/>
          </a:p>
        </p:txBody>
      </p:sp>
      <p:sp>
        <p:nvSpPr>
          <p:cNvPr id="6" name="Text 4"/>
          <p:cNvSpPr txBox="1"/>
          <p:nvPr/>
        </p:nvSpPr>
        <p:spPr>
          <a:xfrm>
            <a:off x="640080" y="1691640"/>
            <a:ext cx="2286000" cy="274320"/>
          </a:xfrm>
          <a:prstGeom prst="rect">
            <a:avLst/>
          </a:prstGeom>
          <a:noFill/>
          <a:ln/>
        </p:spPr>
        <p:txBody>
          <a:bodyPr wrap="square" lIns="0" tIns="0" rIns="0" bIns="0" rtlCol="0" anchor="ctr"/>
          <a:lstStyle/>
          <a:p>
            <a:pPr indent="0" marL="0">
              <a:buNone/>
            </a:pPr>
            <a:r>
              <a:rPr lang="en-US" sz="1200" b="1" dirty="0">
                <a:solidFill>
                  <a:srgbClr val="1AA89A"/>
                </a:solidFill>
                <a:latin typeface="Calibri" pitchFamily="34" charset="0"/>
                <a:ea typeface="Calibri" pitchFamily="34" charset="-122"/>
                <a:cs typeface="Calibri" pitchFamily="34" charset="-120"/>
              </a:rPr>
              <a:t>4 models</a:t>
            </a:r>
            <a:endParaRPr lang="en-US" sz="1200" dirty="0"/>
          </a:p>
        </p:txBody>
      </p:sp>
      <p:sp>
        <p:nvSpPr>
          <p:cNvPr id="7" name="Text 5"/>
          <p:cNvSpPr txBox="1"/>
          <p:nvPr/>
        </p:nvSpPr>
        <p:spPr>
          <a:xfrm>
            <a:off x="640080" y="2057400"/>
            <a:ext cx="233172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DNN: 39→128→64→32→8</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DNN + Dropout (0.30)</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DNN + L2 (0.001)</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Proposed DNN: L2 + BatchNorm + Dropout</a:t>
            </a:r>
            <a:endParaRPr lang="en-US" sz="1400" dirty="0"/>
          </a:p>
        </p:txBody>
      </p:sp>
      <p:sp>
        <p:nvSpPr>
          <p:cNvPr id="8" name="Text 6"/>
          <p:cNvSpPr txBox="1"/>
          <p:nvPr/>
        </p:nvSpPr>
        <p:spPr>
          <a:xfrm>
            <a:off x="640080" y="3886200"/>
            <a:ext cx="2331720" cy="548640"/>
          </a:xfrm>
          <a:prstGeom prst="rect">
            <a:avLst/>
          </a:prstGeom>
          <a:noFill/>
          <a:ln/>
        </p:spPr>
        <p:txBody>
          <a:bodyPr wrap="square" lIns="0" tIns="0" rIns="0" bIns="0" rtlCol="0" anchor="t"/>
          <a:lstStyle/>
          <a:p>
            <a:pPr indent="0" marL="0">
              <a:buNone/>
            </a:pPr>
            <a:r>
              <a:rPr lang="en-US" sz="1200" i="1" dirty="0">
                <a:solidFill>
                  <a:srgbClr val="5B6B79"/>
                </a:solidFill>
                <a:latin typeface="Calibri" pitchFamily="34" charset="0"/>
                <a:ea typeface="Calibri" pitchFamily="34" charset="-122"/>
                <a:cs typeface="Calibri" pitchFamily="34" charset="-120"/>
              </a:rPr>
              <a:t>Learns global feature interactions</a:t>
            </a:r>
            <a:endParaRPr lang="en-US" sz="1200" dirty="0"/>
          </a:p>
        </p:txBody>
      </p:sp>
      <p:sp>
        <p:nvSpPr>
          <p:cNvPr id="9" name="Shape 7"/>
          <p:cNvSpPr/>
          <p:nvPr/>
        </p:nvSpPr>
        <p:spPr>
          <a:xfrm>
            <a:off x="3264408" y="1188720"/>
            <a:ext cx="2651760" cy="3429000"/>
          </a:xfrm>
          <a:prstGeom prst="roundRect">
            <a:avLst>
              <a:gd name="adj" fmla="val 2759"/>
            </a:avLst>
          </a:prstGeom>
          <a:solidFill>
            <a:srgbClr val="F2F6F8"/>
          </a:solidFill>
          <a:ln w="12700">
            <a:solidFill>
              <a:srgbClr val="F2F6F8"/>
            </a:solidFill>
            <a:prstDash val="solid"/>
          </a:ln>
        </p:spPr>
      </p:sp>
      <p:sp>
        <p:nvSpPr>
          <p:cNvPr id="10" name="Text 8"/>
          <p:cNvSpPr txBox="1"/>
          <p:nvPr/>
        </p:nvSpPr>
        <p:spPr>
          <a:xfrm>
            <a:off x="3447288" y="1325880"/>
            <a:ext cx="2286000" cy="365760"/>
          </a:xfrm>
          <a:prstGeom prst="rect">
            <a:avLst/>
          </a:prstGeom>
          <a:noFill/>
          <a:ln/>
        </p:spPr>
        <p:txBody>
          <a:bodyPr wrap="square" lIns="0" tIns="0" rIns="0" bIns="0" rtlCol="0" anchor="ctr"/>
          <a:lstStyle/>
          <a:p>
            <a:pPr indent="0" marL="0">
              <a:buNone/>
            </a:pPr>
            <a:r>
              <a:rPr lang="en-US" sz="2000" b="1" dirty="0">
                <a:solidFill>
                  <a:srgbClr val="0B1F2A"/>
                </a:solidFill>
                <a:latin typeface="Cambria" pitchFamily="34" charset="0"/>
                <a:ea typeface="Cambria" pitchFamily="34" charset="-122"/>
                <a:cs typeface="Cambria" pitchFamily="34" charset="-120"/>
              </a:rPr>
              <a:t>Recurrent</a:t>
            </a:r>
            <a:endParaRPr lang="en-US" sz="2000" dirty="0"/>
          </a:p>
        </p:txBody>
      </p:sp>
      <p:sp>
        <p:nvSpPr>
          <p:cNvPr id="11" name="Text 9"/>
          <p:cNvSpPr txBox="1"/>
          <p:nvPr/>
        </p:nvSpPr>
        <p:spPr>
          <a:xfrm>
            <a:off x="3447288" y="1691640"/>
            <a:ext cx="2286000" cy="274320"/>
          </a:xfrm>
          <a:prstGeom prst="rect">
            <a:avLst/>
          </a:prstGeom>
          <a:noFill/>
          <a:ln/>
        </p:spPr>
        <p:txBody>
          <a:bodyPr wrap="square" lIns="0" tIns="0" rIns="0" bIns="0" rtlCol="0" anchor="ctr"/>
          <a:lstStyle/>
          <a:p>
            <a:pPr indent="0" marL="0">
              <a:buNone/>
            </a:pPr>
            <a:r>
              <a:rPr lang="en-US" sz="1200" b="1" dirty="0">
                <a:solidFill>
                  <a:srgbClr val="1AA89A"/>
                </a:solidFill>
                <a:latin typeface="Calibri" pitchFamily="34" charset="0"/>
                <a:ea typeface="Calibri" pitchFamily="34" charset="-122"/>
                <a:cs typeface="Calibri" pitchFamily="34" charset="-120"/>
              </a:rPr>
              <a:t>2 models</a:t>
            </a:r>
            <a:endParaRPr lang="en-US" sz="1200" dirty="0"/>
          </a:p>
        </p:txBody>
      </p:sp>
      <p:sp>
        <p:nvSpPr>
          <p:cNvPr id="12" name="Text 10"/>
          <p:cNvSpPr txBox="1"/>
          <p:nvPr/>
        </p:nvSpPr>
        <p:spPr>
          <a:xfrm>
            <a:off x="3447288" y="2057400"/>
            <a:ext cx="233172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GRU: 64→32 units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LSTM: 64→32 units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39 features as 39 timesteps</a:t>
            </a:r>
            <a:endParaRPr lang="en-US" sz="1400" dirty="0"/>
          </a:p>
        </p:txBody>
      </p:sp>
      <p:sp>
        <p:nvSpPr>
          <p:cNvPr id="13" name="Text 11"/>
          <p:cNvSpPr txBox="1"/>
          <p:nvPr/>
        </p:nvSpPr>
        <p:spPr>
          <a:xfrm>
            <a:off x="3447288" y="3886200"/>
            <a:ext cx="2331720" cy="548640"/>
          </a:xfrm>
          <a:prstGeom prst="rect">
            <a:avLst/>
          </a:prstGeom>
          <a:noFill/>
          <a:ln/>
        </p:spPr>
        <p:txBody>
          <a:bodyPr wrap="square" lIns="0" tIns="0" rIns="0" bIns="0" rtlCol="0" anchor="t"/>
          <a:lstStyle/>
          <a:p>
            <a:pPr indent="0" marL="0">
              <a:buNone/>
            </a:pPr>
            <a:r>
              <a:rPr lang="en-US" sz="1200" i="1" dirty="0">
                <a:solidFill>
                  <a:srgbClr val="5B6B79"/>
                </a:solidFill>
                <a:latin typeface="Calibri" pitchFamily="34" charset="0"/>
                <a:ea typeface="Calibri" pitchFamily="34" charset="-122"/>
                <a:cs typeface="Calibri" pitchFamily="34" charset="-120"/>
              </a:rPr>
              <a:t>Order is a modelling choice, not real time</a:t>
            </a:r>
            <a:endParaRPr lang="en-US" sz="1200" dirty="0"/>
          </a:p>
        </p:txBody>
      </p:sp>
      <p:sp>
        <p:nvSpPr>
          <p:cNvPr id="14" name="Shape 12"/>
          <p:cNvSpPr/>
          <p:nvPr/>
        </p:nvSpPr>
        <p:spPr>
          <a:xfrm>
            <a:off x="6071616" y="1188720"/>
            <a:ext cx="2651760" cy="3429000"/>
          </a:xfrm>
          <a:prstGeom prst="roundRect">
            <a:avLst>
              <a:gd name="adj" fmla="val 2759"/>
            </a:avLst>
          </a:prstGeom>
          <a:solidFill>
            <a:srgbClr val="F2F6F8"/>
          </a:solidFill>
          <a:ln w="12700">
            <a:solidFill>
              <a:srgbClr val="F2F6F8"/>
            </a:solidFill>
            <a:prstDash val="solid"/>
          </a:ln>
        </p:spPr>
      </p:sp>
      <p:sp>
        <p:nvSpPr>
          <p:cNvPr id="15" name="Text 13"/>
          <p:cNvSpPr txBox="1"/>
          <p:nvPr/>
        </p:nvSpPr>
        <p:spPr>
          <a:xfrm>
            <a:off x="6254496" y="1325880"/>
            <a:ext cx="2286000" cy="365760"/>
          </a:xfrm>
          <a:prstGeom prst="rect">
            <a:avLst/>
          </a:prstGeom>
          <a:noFill/>
          <a:ln/>
        </p:spPr>
        <p:txBody>
          <a:bodyPr wrap="square" lIns="0" tIns="0" rIns="0" bIns="0" rtlCol="0" anchor="ctr"/>
          <a:lstStyle/>
          <a:p>
            <a:pPr indent="0" marL="0">
              <a:buNone/>
            </a:pPr>
            <a:r>
              <a:rPr lang="en-US" sz="2000" b="1" dirty="0">
                <a:solidFill>
                  <a:srgbClr val="0B1F2A"/>
                </a:solidFill>
                <a:latin typeface="Cambria" pitchFamily="34" charset="0"/>
                <a:ea typeface="Cambria" pitchFamily="34" charset="-122"/>
                <a:cs typeface="Cambria" pitchFamily="34" charset="-120"/>
              </a:rPr>
              <a:t>Attention</a:t>
            </a:r>
            <a:endParaRPr lang="en-US" sz="2000" dirty="0"/>
          </a:p>
        </p:txBody>
      </p:sp>
      <p:sp>
        <p:nvSpPr>
          <p:cNvPr id="16" name="Text 14"/>
          <p:cNvSpPr txBox="1"/>
          <p:nvPr/>
        </p:nvSpPr>
        <p:spPr>
          <a:xfrm>
            <a:off x="6254496" y="1691640"/>
            <a:ext cx="2286000" cy="274320"/>
          </a:xfrm>
          <a:prstGeom prst="rect">
            <a:avLst/>
          </a:prstGeom>
          <a:noFill/>
          <a:ln/>
        </p:spPr>
        <p:txBody>
          <a:bodyPr wrap="square" lIns="0" tIns="0" rIns="0" bIns="0" rtlCol="0" anchor="ctr"/>
          <a:lstStyle/>
          <a:p>
            <a:pPr indent="0" marL="0">
              <a:buNone/>
            </a:pPr>
            <a:r>
              <a:rPr lang="en-US" sz="1200" b="1" dirty="0">
                <a:solidFill>
                  <a:srgbClr val="1AA89A"/>
                </a:solidFill>
                <a:latin typeface="Calibri" pitchFamily="34" charset="0"/>
                <a:ea typeface="Calibri" pitchFamily="34" charset="-122"/>
                <a:cs typeface="Calibri" pitchFamily="34" charset="-120"/>
              </a:rPr>
              <a:t>1 model</a:t>
            </a:r>
            <a:endParaRPr lang="en-US" sz="1200" dirty="0"/>
          </a:p>
        </p:txBody>
      </p:sp>
      <p:sp>
        <p:nvSpPr>
          <p:cNvPr id="17" name="Text 15"/>
          <p:cNvSpPr txBox="1"/>
          <p:nvPr/>
        </p:nvSpPr>
        <p:spPr>
          <a:xfrm>
            <a:off x="6254496" y="2057400"/>
            <a:ext cx="233172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Feature tokenizer (64-d)</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CLS token + position embeddings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2 encoder blocks, 4 heads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AdamW, lr 1e-4</a:t>
            </a:r>
            <a:endParaRPr lang="en-US" sz="1400" dirty="0"/>
          </a:p>
        </p:txBody>
      </p:sp>
      <p:sp>
        <p:nvSpPr>
          <p:cNvPr id="18" name="Text 16"/>
          <p:cNvSpPr txBox="1"/>
          <p:nvPr/>
        </p:nvSpPr>
        <p:spPr>
          <a:xfrm>
            <a:off x="6254496" y="3886200"/>
            <a:ext cx="2331720" cy="548640"/>
          </a:xfrm>
          <a:prstGeom prst="rect">
            <a:avLst/>
          </a:prstGeom>
          <a:noFill/>
          <a:ln/>
        </p:spPr>
        <p:txBody>
          <a:bodyPr wrap="square" lIns="0" tIns="0" rIns="0" bIns="0" rtlCol="0" anchor="t"/>
          <a:lstStyle/>
          <a:p>
            <a:pPr indent="0" marL="0">
              <a:buNone/>
            </a:pPr>
            <a:r>
              <a:rPr lang="en-US" sz="1200" i="1" dirty="0">
                <a:solidFill>
                  <a:srgbClr val="5B6B79"/>
                </a:solidFill>
                <a:latin typeface="Calibri" pitchFamily="34" charset="0"/>
                <a:ea typeface="Calibri" pitchFamily="34" charset="-122"/>
                <a:cs typeface="Calibri" pitchFamily="34" charset="-120"/>
              </a:rPr>
              <a:t>Self-attention across feature tokens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Results: all seven models</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1097280"/>
                <a:gridCol w="1280160"/>
                <a:gridCol w="1280160"/>
                <a:gridCol w="1280160"/>
                <a:gridCol w="155448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Macro Prec.</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Macro Recall</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Macro F1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Train time (s)</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DNN</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75.44%</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64.03%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70.31%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63.46%</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19.48</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DNN + Dropout</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73.73%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63.91%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69.02%</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62.10%</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21.84</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DNN + L2</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75.08%</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63.43%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68.96%</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63.05%</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18.46</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Proposed DNN</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74.07%</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64.51%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68.98%</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62.26%</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25.70</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GRU</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69.82%</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60.34%</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65.51%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58.68%</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668.69</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LSTM</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55.24%</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52.20%</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51.43%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45.71%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173.61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Transformer</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72.53%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65.39%</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71.05%</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62.63%</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3,497.91</a:t>
                      </a:r>
                      <a:endParaRPr lang="en-US" sz="13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Highlighted = best in column. Single run per model, CPU training.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DNN family leads on accuracy and macro F1</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graphicFrame>
        <p:nvGraphicFramePr>
          <p:cNvPr id="4" name="Chart 0" descr=""/>
          <p:cNvGraphicFramePr/>
          <p:nvPr/>
        </p:nvGraphicFramePr>
        <p:xfrm>
          <a:off x="457200" y="1051560"/>
          <a:ext cx="576072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00800" y="1188720"/>
            <a:ext cx="2286000" cy="3337560"/>
          </a:xfrm>
          <a:prstGeom prst="roundRect">
            <a:avLst>
              <a:gd name="adj" fmla="val 3200"/>
            </a:avLst>
          </a:prstGeom>
          <a:solidFill>
            <a:srgbClr val="F2F6F8"/>
          </a:solidFill>
          <a:ln w="12700">
            <a:solidFill>
              <a:srgbClr val="F2F6F8"/>
            </a:solidFill>
            <a:prstDash val="solid"/>
          </a:ln>
        </p:spPr>
      </p:sp>
      <p:sp>
        <p:nvSpPr>
          <p:cNvPr id="6" name="Text 3"/>
          <p:cNvSpPr txBox="1"/>
          <p:nvPr/>
        </p:nvSpPr>
        <p:spPr>
          <a:xfrm>
            <a:off x="6583680" y="1325880"/>
            <a:ext cx="1965960" cy="3108960"/>
          </a:xfrm>
          <a:prstGeom prst="rect">
            <a:avLst/>
          </a:prstGeom>
          <a:noFill/>
          <a:ln/>
        </p:spPr>
        <p:txBody>
          <a:bodyPr wrap="square" lIns="0" tIns="0" rIns="0" bIns="0" rtlCol="0" anchor="t"/>
          <a:lstStyle/>
          <a:p>
            <a:pPr indent="0" marL="0">
              <a:buNone/>
            </a:pPr>
            <a:r>
              <a:rPr lang="en-US" sz="2000" b="1" dirty="0">
                <a:solidFill>
                  <a:srgbClr val="1AA89A"/>
                </a:solidFill>
                <a:latin typeface="Cambria" pitchFamily="34" charset="0"/>
                <a:ea typeface="Cambria" pitchFamily="34" charset="-122"/>
                <a:cs typeface="Cambria" pitchFamily="34" charset="-120"/>
              </a:rPr>
              <a:t>DNN</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75.44% accuracy, 63.46% macro F1: best on both.</a:t>
            </a:r>
            <a:endParaRPr lang="en-US" sz="1300" dirty="0"/>
          </a:p>
          <a:p>
            <a:pPr indent="0" marL="0">
              <a:buNone/>
            </a:pPr>
            <a:r>
              <a:rPr lang="en-US" sz="600" dirty="0">
                <a:solidFill>
                  <a:srgbClr val="1B2733"/>
                </a:solidFill>
                <a:latin typeface="Calibri" pitchFamily="34" charset="0"/>
                <a:ea typeface="Calibri" pitchFamily="34" charset="-122"/>
                <a:cs typeface="Calibri" pitchFamily="34" charset="-120"/>
              </a:rPr>
              <a:t> </a:t>
            </a:r>
            <a:endParaRPr lang="en-US" sz="1300" dirty="0"/>
          </a:p>
          <a:p>
            <a:pPr indent="0" marL="0">
              <a:buNone/>
            </a:pPr>
            <a:r>
              <a:rPr lang="en-US" sz="2000" b="1" dirty="0">
                <a:solidFill>
                  <a:srgbClr val="D1495B"/>
                </a:solidFill>
                <a:latin typeface="Cambria" pitchFamily="34" charset="0"/>
                <a:ea typeface="Cambria" pitchFamily="34" charset="-122"/>
                <a:cs typeface="Cambria" pitchFamily="34" charset="-120"/>
              </a:rPr>
              <a:t>LSTM</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55.24% accuracy, 45.71% macro F1: lowest. GRU beats it by 14.6 accuracy points.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Training cost spans a factor of 180</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graphicFrame>
        <p:nvGraphicFramePr>
          <p:cNvPr id="4" name="Chart 0" descr=""/>
          <p:cNvGraphicFramePr/>
          <p:nvPr/>
        </p:nvGraphicFramePr>
        <p:xfrm>
          <a:off x="457200" y="105156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126480" y="1188720"/>
            <a:ext cx="2560320" cy="1325880"/>
          </a:xfrm>
          <a:prstGeom prst="roundRect">
            <a:avLst>
              <a:gd name="adj" fmla="val 5517"/>
            </a:avLst>
          </a:prstGeom>
          <a:solidFill>
            <a:srgbClr val="F2F6F8"/>
          </a:solidFill>
          <a:ln w="12700">
            <a:solidFill>
              <a:srgbClr val="F2F6F8"/>
            </a:solidFill>
            <a:prstDash val="solid"/>
          </a:ln>
        </p:spPr>
      </p:sp>
      <p:sp>
        <p:nvSpPr>
          <p:cNvPr id="6" name="Text 3"/>
          <p:cNvSpPr txBox="1"/>
          <p:nvPr/>
        </p:nvSpPr>
        <p:spPr>
          <a:xfrm>
            <a:off x="6217920" y="1280160"/>
            <a:ext cx="2377440" cy="640080"/>
          </a:xfrm>
          <a:prstGeom prst="rect">
            <a:avLst/>
          </a:prstGeom>
          <a:noFill/>
          <a:ln/>
        </p:spPr>
        <p:txBody>
          <a:bodyPr wrap="square" lIns="0" tIns="0" rIns="0" bIns="0" rtlCol="0" anchor="ctr"/>
          <a:lstStyle/>
          <a:p>
            <a:pPr algn="l" indent="0" marL="0">
              <a:buNone/>
            </a:pPr>
            <a:r>
              <a:rPr lang="en-US" sz="3200" b="1" dirty="0">
                <a:solidFill>
                  <a:srgbClr val="1AA89A"/>
                </a:solidFill>
                <a:latin typeface="Cambria" pitchFamily="34" charset="0"/>
                <a:ea typeface="Cambria" pitchFamily="34" charset="-122"/>
                <a:cs typeface="Cambria" pitchFamily="34" charset="-120"/>
              </a:rPr>
              <a:t>18.46 s</a:t>
            </a:r>
            <a:endParaRPr lang="en-US" sz="3200" dirty="0"/>
          </a:p>
        </p:txBody>
      </p:sp>
      <p:sp>
        <p:nvSpPr>
          <p:cNvPr id="7" name="Text 4"/>
          <p:cNvSpPr txBox="1"/>
          <p:nvPr/>
        </p:nvSpPr>
        <p:spPr>
          <a:xfrm>
            <a:off x="6217920" y="1920240"/>
            <a:ext cx="237744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DNN + L2: 75.08% accuracy</a:t>
            </a:r>
            <a:endParaRPr lang="en-US" sz="1200" dirty="0"/>
          </a:p>
        </p:txBody>
      </p:sp>
      <p:sp>
        <p:nvSpPr>
          <p:cNvPr id="8" name="Shape 5"/>
          <p:cNvSpPr/>
          <p:nvPr/>
        </p:nvSpPr>
        <p:spPr>
          <a:xfrm>
            <a:off x="6126480" y="2560320"/>
            <a:ext cx="2560320" cy="1325880"/>
          </a:xfrm>
          <a:prstGeom prst="roundRect">
            <a:avLst>
              <a:gd name="adj" fmla="val 5517"/>
            </a:avLst>
          </a:prstGeom>
          <a:solidFill>
            <a:srgbClr val="F2F6F8"/>
          </a:solidFill>
          <a:ln w="12700">
            <a:solidFill>
              <a:srgbClr val="F2F6F8"/>
            </a:solidFill>
            <a:prstDash val="solid"/>
          </a:ln>
        </p:spPr>
      </p:sp>
      <p:sp>
        <p:nvSpPr>
          <p:cNvPr id="9" name="Text 6"/>
          <p:cNvSpPr txBox="1"/>
          <p:nvPr/>
        </p:nvSpPr>
        <p:spPr>
          <a:xfrm>
            <a:off x="6217920" y="2651760"/>
            <a:ext cx="2377440" cy="640080"/>
          </a:xfrm>
          <a:prstGeom prst="rect">
            <a:avLst/>
          </a:prstGeom>
          <a:noFill/>
          <a:ln/>
        </p:spPr>
        <p:txBody>
          <a:bodyPr wrap="square" lIns="0" tIns="0" rIns="0" bIns="0" rtlCol="0" anchor="ctr"/>
          <a:lstStyle/>
          <a:p>
            <a:pPr algn="l" indent="0" marL="0">
              <a:buNone/>
            </a:pPr>
            <a:r>
              <a:rPr lang="en-US" sz="3200" b="1" dirty="0">
                <a:solidFill>
                  <a:srgbClr val="F2A900"/>
                </a:solidFill>
                <a:latin typeface="Cambria" pitchFamily="34" charset="0"/>
                <a:ea typeface="Cambria" pitchFamily="34" charset="-122"/>
                <a:cs typeface="Cambria" pitchFamily="34" charset="-120"/>
              </a:rPr>
              <a:t>3,497.91 s</a:t>
            </a:r>
            <a:endParaRPr lang="en-US" sz="3200" dirty="0"/>
          </a:p>
        </p:txBody>
      </p:sp>
      <p:sp>
        <p:nvSpPr>
          <p:cNvPr id="10" name="Text 7"/>
          <p:cNvSpPr txBox="1"/>
          <p:nvPr/>
        </p:nvSpPr>
        <p:spPr>
          <a:xfrm>
            <a:off x="6217920" y="3291840"/>
            <a:ext cx="237744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Transformer: 72.53% accuracy</a:t>
            </a:r>
            <a:endParaRPr lang="en-US" sz="1200" dirty="0"/>
          </a:p>
        </p:txBody>
      </p:sp>
      <p:sp>
        <p:nvSpPr>
          <p:cNvPr id="11" name="Text 8"/>
          <p:cNvSpPr txBox="1"/>
          <p:nvPr/>
        </p:nvSpPr>
        <p:spPr>
          <a:xfrm>
            <a:off x="6126480" y="3840480"/>
            <a:ext cx="2560320" cy="731520"/>
          </a:xfrm>
          <a:prstGeom prst="rect">
            <a:avLst/>
          </a:prstGeom>
          <a:noFill/>
          <a:ln/>
        </p:spPr>
        <p:txBody>
          <a:bodyPr wrap="square" lIns="0" tIns="0" rIns="0" bIns="0" rtlCol="0" anchor="t"/>
          <a:lstStyle/>
          <a:p>
            <a:pPr indent="0" marL="0">
              <a:buNone/>
            </a:pPr>
            <a:r>
              <a:rPr lang="en-US" sz="1400" b="1" dirty="0">
                <a:solidFill>
                  <a:srgbClr val="0B1F2A"/>
                </a:solidFill>
                <a:latin typeface="Calibri" pitchFamily="34" charset="0"/>
                <a:ea typeface="Calibri" pitchFamily="34" charset="-122"/>
                <a:cs typeface="Calibri" pitchFamily="34" charset="-120"/>
              </a:rPr>
              <a:t>≈180× the training time of DNN, with lower accuracy.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Per-class F1: rare attacks remain the weak spot</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graphicFrame>
        <p:nvGraphicFramePr>
          <p:cNvPr id="4" name="Chart 0" descr=""/>
          <p:cNvGraphicFramePr/>
          <p:nvPr/>
        </p:nvGraphicFramePr>
        <p:xfrm>
          <a:off x="457200" y="1051560"/>
          <a:ext cx="585216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92240" y="1188720"/>
            <a:ext cx="2194560" cy="3337560"/>
          </a:xfrm>
          <a:prstGeom prst="roundRect">
            <a:avLst>
              <a:gd name="adj" fmla="val 3333"/>
            </a:avLst>
          </a:prstGeom>
          <a:solidFill>
            <a:srgbClr val="F2F6F8"/>
          </a:solidFill>
          <a:ln w="12700">
            <a:solidFill>
              <a:srgbClr val="F2F6F8"/>
            </a:solidFill>
            <a:prstDash val="solid"/>
          </a:ln>
        </p:spPr>
      </p:sp>
      <p:sp>
        <p:nvSpPr>
          <p:cNvPr id="6" name="Text 3"/>
          <p:cNvSpPr txBox="1"/>
          <p:nvPr/>
        </p:nvSpPr>
        <p:spPr>
          <a:xfrm>
            <a:off x="6629400" y="1325880"/>
            <a:ext cx="1965960" cy="3108960"/>
          </a:xfrm>
          <a:prstGeom prst="rect">
            <a:avLst/>
          </a:prstGeom>
          <a:noFill/>
          <a:ln/>
        </p:spPr>
        <p:txBody>
          <a:bodyPr wrap="square" lIns="0" tIns="0" rIns="0" bIns="0" rtlCol="0" anchor="t"/>
          <a:lstStyle/>
          <a:p>
            <a:pPr indent="0" marL="0">
              <a:buNone/>
            </a:pPr>
            <a:r>
              <a:rPr lang="en-US" sz="1300" b="1" dirty="0">
                <a:solidFill>
                  <a:srgbClr val="1AA89A"/>
                </a:solidFill>
                <a:latin typeface="Calibri" pitchFamily="34" charset="0"/>
                <a:ea typeface="Calibri" pitchFamily="34" charset="-122"/>
                <a:cs typeface="Calibri" pitchFamily="34" charset="-120"/>
              </a:rPr>
              <a:t>Mirai ≈ 1.00</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Easy for all models.</a:t>
            </a:r>
            <a:endParaRPr lang="en-US" sz="1300" dirty="0"/>
          </a:p>
          <a:p>
            <a:pPr indent="0" marL="0">
              <a:buNone/>
            </a:pPr>
            <a:r>
              <a:rPr lang="en-US" sz="600" dirty="0">
                <a:solidFill>
                  <a:srgbClr val="1B27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1495B"/>
                </a:solidFill>
                <a:latin typeface="Calibri" pitchFamily="34" charset="0"/>
                <a:ea typeface="Calibri" pitchFamily="34" charset="-122"/>
                <a:cs typeface="Calibri" pitchFamily="34" charset="-120"/>
              </a:rPr>
              <a:t>BruteForce and Web-based &lt; 0.30</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Only 2.8% of test flows; precision 0.04–0.18 for every model.</a:t>
            </a:r>
            <a:endParaRPr lang="en-US" sz="1300" dirty="0"/>
          </a:p>
          <a:p>
            <a:pPr indent="0" marL="0">
              <a:buNone/>
            </a:pPr>
            <a:r>
              <a:rPr lang="en-US" sz="600" dirty="0">
                <a:solidFill>
                  <a:srgbClr val="1B27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B1F2A"/>
                </a:solidFill>
                <a:latin typeface="Calibri" pitchFamily="34" charset="0"/>
                <a:ea typeface="Calibri" pitchFamily="34" charset="-122"/>
                <a:cs typeface="Calibri" pitchFamily="34" charset="-120"/>
              </a:rPr>
              <a:t>Spoofing</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Transformer 0.82 vs DNN 0.68.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Complexity did not buy better performance</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
        <p:nvSpPr>
          <p:cNvPr id="4" name="Shape 2"/>
          <p:cNvSpPr/>
          <p:nvPr/>
        </p:nvSpPr>
        <p:spPr>
          <a:xfrm>
            <a:off x="457200" y="1143000"/>
            <a:ext cx="8229600" cy="777240"/>
          </a:xfrm>
          <a:prstGeom prst="roundRect">
            <a:avLst>
              <a:gd name="adj" fmla="val 9412"/>
            </a:avLst>
          </a:prstGeom>
          <a:solidFill>
            <a:srgbClr val="F2F6F8"/>
          </a:solidFill>
          <a:ln w="12700">
            <a:solidFill>
              <a:srgbClr val="F2F6F8"/>
            </a:solidFill>
            <a:prstDash val="solid"/>
          </a:ln>
        </p:spPr>
      </p:sp>
      <p:sp>
        <p:nvSpPr>
          <p:cNvPr id="5" name="Text 3"/>
          <p:cNvSpPr txBox="1"/>
          <p:nvPr/>
        </p:nvSpPr>
        <p:spPr>
          <a:xfrm>
            <a:off x="640080" y="1143000"/>
            <a:ext cx="1920240" cy="777240"/>
          </a:xfrm>
          <a:prstGeom prst="rect">
            <a:avLst/>
          </a:prstGeom>
          <a:noFill/>
          <a:ln/>
        </p:spPr>
        <p:txBody>
          <a:bodyPr wrap="square" lIns="0" tIns="0" rIns="0" bIns="0" rtlCol="0" anchor="ctr"/>
          <a:lstStyle/>
          <a:p>
            <a:pPr indent="0" marL="0">
              <a:buNone/>
            </a:pPr>
            <a:r>
              <a:rPr lang="en-US" sz="1600" b="1" dirty="0">
                <a:solidFill>
                  <a:srgbClr val="0B1F2A"/>
                </a:solidFill>
                <a:latin typeface="Cambria" pitchFamily="34" charset="0"/>
                <a:ea typeface="Cambria" pitchFamily="34" charset="-122"/>
                <a:cs typeface="Cambria" pitchFamily="34" charset="-120"/>
              </a:rPr>
              <a:t>Regularisation</a:t>
            </a:r>
            <a:endParaRPr lang="en-US" sz="1600" dirty="0"/>
          </a:p>
        </p:txBody>
      </p:sp>
      <p:sp>
        <p:nvSpPr>
          <p:cNvPr id="6" name="Text 4"/>
          <p:cNvSpPr txBox="1"/>
          <p:nvPr/>
        </p:nvSpPr>
        <p:spPr>
          <a:xfrm>
            <a:off x="2651760" y="1143000"/>
            <a:ext cx="5852160" cy="77724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Dropout and the combined Proposed DNN did not beat the plain DNN. L2 nearly matched it (75.08%) and trained fastest.</a:t>
            </a:r>
            <a:endParaRPr lang="en-US" sz="1400" dirty="0"/>
          </a:p>
        </p:txBody>
      </p:sp>
      <p:sp>
        <p:nvSpPr>
          <p:cNvPr id="7" name="Shape 5"/>
          <p:cNvSpPr/>
          <p:nvPr/>
        </p:nvSpPr>
        <p:spPr>
          <a:xfrm>
            <a:off x="457200" y="2011680"/>
            <a:ext cx="8229600" cy="777240"/>
          </a:xfrm>
          <a:prstGeom prst="roundRect">
            <a:avLst>
              <a:gd name="adj" fmla="val 9412"/>
            </a:avLst>
          </a:prstGeom>
          <a:solidFill>
            <a:srgbClr val="F2F6F8"/>
          </a:solidFill>
          <a:ln w="12700">
            <a:solidFill>
              <a:srgbClr val="F2F6F8"/>
            </a:solidFill>
            <a:prstDash val="solid"/>
          </a:ln>
        </p:spPr>
      </p:sp>
      <p:sp>
        <p:nvSpPr>
          <p:cNvPr id="8" name="Text 6"/>
          <p:cNvSpPr txBox="1"/>
          <p:nvPr/>
        </p:nvSpPr>
        <p:spPr>
          <a:xfrm>
            <a:off x="640080" y="2011680"/>
            <a:ext cx="1920240" cy="777240"/>
          </a:xfrm>
          <a:prstGeom prst="rect">
            <a:avLst/>
          </a:prstGeom>
          <a:noFill/>
          <a:ln/>
        </p:spPr>
        <p:txBody>
          <a:bodyPr wrap="square" lIns="0" tIns="0" rIns="0" bIns="0" rtlCol="0" anchor="ctr"/>
          <a:lstStyle/>
          <a:p>
            <a:pPr indent="0" marL="0">
              <a:buNone/>
            </a:pPr>
            <a:r>
              <a:rPr lang="en-US" sz="1600" b="1" dirty="0">
                <a:solidFill>
                  <a:srgbClr val="0B1F2A"/>
                </a:solidFill>
                <a:latin typeface="Cambria" pitchFamily="34" charset="0"/>
                <a:ea typeface="Cambria" pitchFamily="34" charset="-122"/>
                <a:cs typeface="Cambria" pitchFamily="34" charset="-120"/>
              </a:rPr>
              <a:t>Recurrent models</a:t>
            </a:r>
            <a:endParaRPr lang="en-US" sz="1600" dirty="0"/>
          </a:p>
        </p:txBody>
      </p:sp>
      <p:sp>
        <p:nvSpPr>
          <p:cNvPr id="9" name="Text 7"/>
          <p:cNvSpPr txBox="1"/>
          <p:nvPr/>
        </p:nvSpPr>
        <p:spPr>
          <a:xfrm>
            <a:off x="2651760" y="2011680"/>
            <a:ext cx="5852160" cy="77724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GRU clearly outperformed LSTM (69.82% vs 55.24%), but both trailed feed-forward models and cost 9–34× more time.</a:t>
            </a:r>
            <a:endParaRPr lang="en-US" sz="1400" dirty="0"/>
          </a:p>
        </p:txBody>
      </p:sp>
      <p:sp>
        <p:nvSpPr>
          <p:cNvPr id="10" name="Shape 8"/>
          <p:cNvSpPr/>
          <p:nvPr/>
        </p:nvSpPr>
        <p:spPr>
          <a:xfrm>
            <a:off x="457200" y="2880360"/>
            <a:ext cx="8229600" cy="777240"/>
          </a:xfrm>
          <a:prstGeom prst="roundRect">
            <a:avLst>
              <a:gd name="adj" fmla="val 9412"/>
            </a:avLst>
          </a:prstGeom>
          <a:solidFill>
            <a:srgbClr val="F2F6F8"/>
          </a:solidFill>
          <a:ln w="12700">
            <a:solidFill>
              <a:srgbClr val="F2F6F8"/>
            </a:solidFill>
            <a:prstDash val="solid"/>
          </a:ln>
        </p:spPr>
      </p:sp>
      <p:sp>
        <p:nvSpPr>
          <p:cNvPr id="11" name="Text 9"/>
          <p:cNvSpPr txBox="1"/>
          <p:nvPr/>
        </p:nvSpPr>
        <p:spPr>
          <a:xfrm>
            <a:off x="640080" y="2880360"/>
            <a:ext cx="1920240" cy="777240"/>
          </a:xfrm>
          <a:prstGeom prst="rect">
            <a:avLst/>
          </a:prstGeom>
          <a:noFill/>
          <a:ln/>
        </p:spPr>
        <p:txBody>
          <a:bodyPr wrap="square" lIns="0" tIns="0" rIns="0" bIns="0" rtlCol="0" anchor="ctr"/>
          <a:lstStyle/>
          <a:p>
            <a:pPr indent="0" marL="0">
              <a:buNone/>
            </a:pPr>
            <a:r>
              <a:rPr lang="en-US" sz="1600" b="1" dirty="0">
                <a:solidFill>
                  <a:srgbClr val="0B1F2A"/>
                </a:solidFill>
                <a:latin typeface="Cambria" pitchFamily="34" charset="0"/>
                <a:ea typeface="Cambria" pitchFamily="34" charset="-122"/>
                <a:cs typeface="Cambria" pitchFamily="34" charset="-120"/>
              </a:rPr>
              <a:t>Transformer</a:t>
            </a:r>
            <a:endParaRPr lang="en-US" sz="1600" dirty="0"/>
          </a:p>
        </p:txBody>
      </p:sp>
      <p:sp>
        <p:nvSpPr>
          <p:cNvPr id="12" name="Text 10"/>
          <p:cNvSpPr txBox="1"/>
          <p:nvPr/>
        </p:nvSpPr>
        <p:spPr>
          <a:xfrm>
            <a:off x="2651760" y="2880360"/>
            <a:ext cx="5852160" cy="77724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Highest macro precision (65.39%) and recall (71.05%), but about 180× the training cost of DNN.</a:t>
            </a:r>
            <a:endParaRPr lang="en-US" sz="1400" dirty="0"/>
          </a:p>
        </p:txBody>
      </p:sp>
      <p:sp>
        <p:nvSpPr>
          <p:cNvPr id="13" name="Shape 11"/>
          <p:cNvSpPr/>
          <p:nvPr/>
        </p:nvSpPr>
        <p:spPr>
          <a:xfrm>
            <a:off x="457200" y="3749040"/>
            <a:ext cx="8229600" cy="777240"/>
          </a:xfrm>
          <a:prstGeom prst="roundRect">
            <a:avLst>
              <a:gd name="adj" fmla="val 9412"/>
            </a:avLst>
          </a:prstGeom>
          <a:solidFill>
            <a:srgbClr val="0B1F2A"/>
          </a:solidFill>
          <a:ln w="12700">
            <a:solidFill>
              <a:srgbClr val="0B1F2A"/>
            </a:solidFill>
            <a:prstDash val="solid"/>
          </a:ln>
        </p:spPr>
      </p:sp>
      <p:sp>
        <p:nvSpPr>
          <p:cNvPr id="14" name="Text 12"/>
          <p:cNvSpPr txBox="1"/>
          <p:nvPr/>
        </p:nvSpPr>
        <p:spPr>
          <a:xfrm>
            <a:off x="640080" y="3749040"/>
            <a:ext cx="1920240" cy="777240"/>
          </a:xfrm>
          <a:prstGeom prst="rect">
            <a:avLst/>
          </a:prstGeom>
          <a:noFill/>
          <a:ln/>
        </p:spPr>
        <p:txBody>
          <a:bodyPr wrap="square" lIns="0" tIns="0" rIns="0" bIns="0" rtlCol="0" anchor="ctr"/>
          <a:lstStyle/>
          <a:p>
            <a:pPr indent="0" marL="0">
              <a:buNone/>
            </a:pPr>
            <a:r>
              <a:rPr lang="en-US" sz="1600" b="1" dirty="0">
                <a:solidFill>
                  <a:srgbClr val="1AA89A"/>
                </a:solidFill>
                <a:latin typeface="Cambria" pitchFamily="34" charset="0"/>
                <a:ea typeface="Cambria" pitchFamily="34" charset="-122"/>
                <a:cs typeface="Cambria" pitchFamily="34" charset="-120"/>
              </a:rPr>
              <a:t>Takeaway</a:t>
            </a:r>
            <a:endParaRPr lang="en-US" sz="1600" dirty="0"/>
          </a:p>
        </p:txBody>
      </p:sp>
      <p:sp>
        <p:nvSpPr>
          <p:cNvPr id="15" name="Text 13"/>
          <p:cNvSpPr txBox="1"/>
          <p:nvPr/>
        </p:nvSpPr>
        <p:spPr>
          <a:xfrm>
            <a:off x="2651760" y="3749040"/>
            <a:ext cx="58521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Choose by target metric and compute budget, not by how new the architecture is.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Against published results: not like for like</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gridCol w="1737360"/>
                <a:gridCol w="822960"/>
                <a:gridCol w="1371600"/>
                <a:gridCol w="21945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Classes</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Context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B1F2A"/>
                    </a:solidFill>
                  </a:tcPr>
                </a:tc>
              </a:tr>
              <a:tr h="365760">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Kwari &amp; Rajkumar (2025)</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Soft-voting ensemble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76.88%</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Natural imbalance; subset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Imran et al. (2026)</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LSTM</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96.02%</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CICIoT2023 + IoT-23</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r>
              <a:tr h="365760">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Meena &amp; Indian (2025)</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Enhanced LSTM</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98.58%</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Different scale and task</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Hajjouz &amp; Avksentieva (2024)</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CatBoost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99.96%</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Class weights, 6-fold CV</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2F6F8"/>
                    </a:solidFill>
                  </a:tcPr>
                </a:tc>
              </a:tr>
              <a:tr h="365760">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Yaras &amp; Dener (2024)</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1D-CNN + LSTM</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2 / multi</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99.995% / 99.96%</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Different setup</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This project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DNN</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75.44%</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80k train, 268k natural test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FFF1C9"/>
                    </a:solidFill>
                  </a:tcPr>
                </a:tc>
              </a:tr>
            </a:tbl>
          </a:graphicData>
        </a:graphic>
      </p:graphicFrame>
      <p:sp>
        <p:nvSpPr>
          <p:cNvPr id="5" name="Shape 2"/>
          <p:cNvSpPr/>
          <p:nvPr/>
        </p:nvSpPr>
        <p:spPr>
          <a:xfrm>
            <a:off x="457200" y="3840480"/>
            <a:ext cx="8229600" cy="777240"/>
          </a:xfrm>
          <a:prstGeom prst="roundRect">
            <a:avLst>
              <a:gd name="adj" fmla="val 9412"/>
            </a:avLst>
          </a:prstGeom>
          <a:solidFill>
            <a:srgbClr val="0B1F2A"/>
          </a:solidFill>
          <a:ln w="12700">
            <a:solidFill>
              <a:srgbClr val="0B1F2A"/>
            </a:solidFill>
            <a:prstDash val="solid"/>
          </a:ln>
        </p:spPr>
      </p:sp>
      <p:sp>
        <p:nvSpPr>
          <p:cNvPr id="6" name="Text 3"/>
          <p:cNvSpPr txBox="1"/>
          <p:nvPr/>
        </p:nvSpPr>
        <p:spPr>
          <a:xfrm>
            <a:off x="640080" y="3840480"/>
            <a:ext cx="786384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Label sets, sampling and test regimes differ. This work is an internal benchmark for model selection, not a SOTA claim. Macro F1 of 63.5% vs 54% for the only natural-distribution study that reports it (34 classes).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B1F2A"/>
                </a:solidFill>
                <a:latin typeface="Cambria" pitchFamily="34" charset="0"/>
                <a:ea typeface="Cambria" pitchFamily="34" charset="-122"/>
                <a:cs typeface="Cambria" pitchFamily="34" charset="-120"/>
              </a:rPr>
              <a:t>Limitations and future scope</a:t>
            </a:r>
            <a:endParaRPr lang="en-US" sz="2800" dirty="0"/>
          </a:p>
        </p:txBody>
      </p:sp>
      <p:sp>
        <p:nvSpPr>
          <p:cNvPr id="3"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
        <p:nvSpPr>
          <p:cNvPr id="4" name="Shape 2"/>
          <p:cNvSpPr/>
          <p:nvPr/>
        </p:nvSpPr>
        <p:spPr>
          <a:xfrm>
            <a:off x="457200" y="1143000"/>
            <a:ext cx="4023360" cy="3474720"/>
          </a:xfrm>
          <a:prstGeom prst="roundRect">
            <a:avLst>
              <a:gd name="adj" fmla="val 2105"/>
            </a:avLst>
          </a:prstGeom>
          <a:solidFill>
            <a:srgbClr val="F2F6F8"/>
          </a:solidFill>
          <a:ln w="12700">
            <a:solidFill>
              <a:srgbClr val="F2F6F8"/>
            </a:solidFill>
            <a:prstDash val="solid"/>
          </a:ln>
        </p:spPr>
      </p:sp>
      <p:sp>
        <p:nvSpPr>
          <p:cNvPr id="5" name="Shape 3"/>
          <p:cNvSpPr/>
          <p:nvPr/>
        </p:nvSpPr>
        <p:spPr>
          <a:xfrm>
            <a:off x="4663440" y="1143000"/>
            <a:ext cx="4023360" cy="3474720"/>
          </a:xfrm>
          <a:prstGeom prst="roundRect">
            <a:avLst>
              <a:gd name="adj" fmla="val 2105"/>
            </a:avLst>
          </a:prstGeom>
          <a:solidFill>
            <a:srgbClr val="F2F6F8"/>
          </a:solidFill>
          <a:ln w="12700">
            <a:solidFill>
              <a:srgbClr val="F2F6F8"/>
            </a:solidFill>
            <a:prstDash val="solid"/>
          </a:ln>
        </p:spPr>
      </p:sp>
      <p:sp>
        <p:nvSpPr>
          <p:cNvPr id="6" name="Text 4"/>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2000" b="1" dirty="0">
                <a:solidFill>
                  <a:srgbClr val="D1495B"/>
                </a:solidFill>
                <a:latin typeface="Cambria" pitchFamily="34" charset="0"/>
                <a:ea typeface="Cambria" pitchFamily="34" charset="-122"/>
                <a:cs typeface="Cambria" pitchFamily="34" charset="-120"/>
              </a:rPr>
              <a:t>Limitations</a:t>
            </a:r>
            <a:endParaRPr lang="en-US" sz="2000" dirty="0"/>
          </a:p>
        </p:txBody>
      </p:sp>
      <p:sp>
        <p:nvSpPr>
          <p:cNvPr id="7" name="Text 5"/>
          <p:cNvSpPr txBox="1"/>
          <p:nvPr/>
        </p:nvSpPr>
        <p:spPr>
          <a:xfrm>
            <a:off x="640080" y="17373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Single run per model; no significance test</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Balanced 80k training pool; one configuration</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No inference latency, memory or energy</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Sequence order of 39 features is artificial</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No cross-dataset or adversarial tests</a:t>
            </a:r>
            <a:endParaRPr lang="en-US" sz="1600" dirty="0"/>
          </a:p>
        </p:txBody>
      </p:sp>
      <p:sp>
        <p:nvSpPr>
          <p:cNvPr id="8" name="Text 6"/>
          <p:cNvSpPr txBox="1"/>
          <p:nvPr/>
        </p:nvSpPr>
        <p:spPr>
          <a:xfrm>
            <a:off x="4846320" y="1280160"/>
            <a:ext cx="3657600" cy="365760"/>
          </a:xfrm>
          <a:prstGeom prst="rect">
            <a:avLst/>
          </a:prstGeom>
          <a:noFill/>
          <a:ln/>
        </p:spPr>
        <p:txBody>
          <a:bodyPr wrap="square" lIns="0" tIns="0" rIns="0" bIns="0" rtlCol="0" anchor="ctr"/>
          <a:lstStyle/>
          <a:p>
            <a:pPr indent="0" marL="0">
              <a:buNone/>
            </a:pPr>
            <a:r>
              <a:rPr lang="en-US" sz="2000" b="1" dirty="0">
                <a:solidFill>
                  <a:srgbClr val="1AA89A"/>
                </a:solidFill>
                <a:latin typeface="Cambria" pitchFamily="34" charset="0"/>
                <a:ea typeface="Cambria" pitchFamily="34" charset="-122"/>
                <a:cs typeface="Cambria" pitchFamily="34" charset="-120"/>
              </a:rPr>
              <a:t>Future scope</a:t>
            </a:r>
            <a:endParaRPr lang="en-US" sz="2000" dirty="0"/>
          </a:p>
        </p:txBody>
      </p:sp>
      <p:sp>
        <p:nvSpPr>
          <p:cNvPr id="9" name="Text 7"/>
          <p:cNvSpPr txBox="1"/>
          <p:nvPr/>
        </p:nvSpPr>
        <p:spPr>
          <a:xfrm>
            <a:off x="4846320" y="17373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Hyperparameter tuning for all models</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Class weighting, focal loss, confusion matrices</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Session-aware splits to limit leakage</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Edge-hardware latency and energy tests</a:t>
            </a:r>
            <a:endParaRPr lang="en-US" sz="1600" dirty="0"/>
          </a:p>
          <a:p>
            <a:pPr marL="342900" indent="-342900">
              <a:spcAft>
                <a:spcPts val="800"/>
              </a:spcAft>
              <a:buSzPct val="100000"/>
              <a:buChar char="•"/>
            </a:pPr>
            <a:r>
              <a:rPr lang="en-US" sz="1600" dirty="0">
                <a:solidFill>
                  <a:srgbClr val="1B2733"/>
                </a:solidFill>
                <a:latin typeface="Calibri" pitchFamily="34" charset="0"/>
                <a:ea typeface="Calibri" pitchFamily="34" charset="-122"/>
                <a:cs typeface="Calibri" pitchFamily="34" charset="-120"/>
              </a:rPr>
              <a:t>Cross-dataset, robustness, SHAP/LIME, federated learning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280160"/>
            <a:ext cx="2560320" cy="1371600"/>
          </a:xfrm>
          <a:prstGeom prst="roundRect">
            <a:avLst>
              <a:gd name="adj" fmla="val 5333"/>
            </a:avLst>
          </a:prstGeom>
          <a:solidFill>
            <a:srgbClr val="13303F"/>
          </a:solidFill>
          <a:ln w="12700">
            <a:solidFill>
              <a:srgbClr val="13303F"/>
            </a:solidFill>
            <a:prstDash val="solid"/>
          </a:ln>
        </p:spPr>
      </p:sp>
      <p:sp>
        <p:nvSpPr>
          <p:cNvPr id="4" name="Text 2"/>
          <p:cNvSpPr txBox="1"/>
          <p:nvPr/>
        </p:nvSpPr>
        <p:spPr>
          <a:xfrm>
            <a:off x="685800" y="1371600"/>
            <a:ext cx="2286000" cy="640080"/>
          </a:xfrm>
          <a:prstGeom prst="rect">
            <a:avLst/>
          </a:prstGeom>
          <a:noFill/>
          <a:ln/>
        </p:spPr>
        <p:txBody>
          <a:bodyPr wrap="square" lIns="0" tIns="0" rIns="0" bIns="0" rtlCol="0" anchor="ctr"/>
          <a:lstStyle/>
          <a:p>
            <a:pPr indent="0" marL="0">
              <a:buNone/>
            </a:pPr>
            <a:r>
              <a:rPr lang="en-US" sz="3000" b="1" dirty="0">
                <a:solidFill>
                  <a:srgbClr val="1AA89A"/>
                </a:solidFill>
                <a:latin typeface="Cambria" pitchFamily="34" charset="0"/>
                <a:ea typeface="Cambria" pitchFamily="34" charset="-122"/>
                <a:cs typeface="Cambria" pitchFamily="34" charset="-120"/>
              </a:rPr>
              <a:t>75.44%</a:t>
            </a:r>
            <a:endParaRPr lang="en-US" sz="3000" dirty="0"/>
          </a:p>
        </p:txBody>
      </p:sp>
      <p:sp>
        <p:nvSpPr>
          <p:cNvPr id="5" name="Text 3"/>
          <p:cNvSpPr txBox="1"/>
          <p:nvPr/>
        </p:nvSpPr>
        <p:spPr>
          <a:xfrm>
            <a:off x="685800" y="2011680"/>
            <a:ext cx="2286000" cy="548640"/>
          </a:xfrm>
          <a:prstGeom prst="rect">
            <a:avLst/>
          </a:prstGeom>
          <a:noFill/>
          <a:ln/>
        </p:spPr>
        <p:txBody>
          <a:bodyPr wrap="square" lIns="0" tIns="0" rIns="0" bIns="0" rtlCol="0" anchor="t"/>
          <a:lstStyle/>
          <a:p>
            <a:pPr indent="0" marL="0">
              <a:buNone/>
            </a:pPr>
            <a:r>
              <a:rPr lang="en-US" sz="1300" dirty="0">
                <a:solidFill>
                  <a:srgbClr val="C7D5DE"/>
                </a:solidFill>
                <a:latin typeface="Calibri" pitchFamily="34" charset="0"/>
                <a:ea typeface="Calibri" pitchFamily="34" charset="-122"/>
                <a:cs typeface="Calibri" pitchFamily="34" charset="-120"/>
              </a:rPr>
              <a:t>DNN: best accuracy, 63.46% macro F1</a:t>
            </a:r>
            <a:endParaRPr lang="en-US" sz="1300" dirty="0"/>
          </a:p>
        </p:txBody>
      </p:sp>
      <p:sp>
        <p:nvSpPr>
          <p:cNvPr id="6" name="Shape 4"/>
          <p:cNvSpPr/>
          <p:nvPr/>
        </p:nvSpPr>
        <p:spPr>
          <a:xfrm>
            <a:off x="3291840" y="1280160"/>
            <a:ext cx="2560320" cy="1371600"/>
          </a:xfrm>
          <a:prstGeom prst="roundRect">
            <a:avLst>
              <a:gd name="adj" fmla="val 5333"/>
            </a:avLst>
          </a:prstGeom>
          <a:solidFill>
            <a:srgbClr val="13303F"/>
          </a:solidFill>
          <a:ln w="12700">
            <a:solidFill>
              <a:srgbClr val="13303F"/>
            </a:solidFill>
            <a:prstDash val="solid"/>
          </a:ln>
        </p:spPr>
      </p:sp>
      <p:sp>
        <p:nvSpPr>
          <p:cNvPr id="7" name="Text 5"/>
          <p:cNvSpPr txBox="1"/>
          <p:nvPr/>
        </p:nvSpPr>
        <p:spPr>
          <a:xfrm>
            <a:off x="3429000" y="1371600"/>
            <a:ext cx="2286000" cy="640080"/>
          </a:xfrm>
          <a:prstGeom prst="rect">
            <a:avLst/>
          </a:prstGeom>
          <a:noFill/>
          <a:ln/>
        </p:spPr>
        <p:txBody>
          <a:bodyPr wrap="square" lIns="0" tIns="0" rIns="0" bIns="0" rtlCol="0" anchor="ctr"/>
          <a:lstStyle/>
          <a:p>
            <a:pPr indent="0" marL="0">
              <a:buNone/>
            </a:pPr>
            <a:r>
              <a:rPr lang="en-US" sz="3000" b="1" dirty="0">
                <a:solidFill>
                  <a:srgbClr val="1AA89A"/>
                </a:solidFill>
                <a:latin typeface="Cambria" pitchFamily="34" charset="0"/>
                <a:ea typeface="Cambria" pitchFamily="34" charset="-122"/>
                <a:cs typeface="Cambria" pitchFamily="34" charset="-120"/>
              </a:rPr>
              <a:t>18.46 s</a:t>
            </a:r>
            <a:endParaRPr lang="en-US" sz="3000" dirty="0"/>
          </a:p>
        </p:txBody>
      </p:sp>
      <p:sp>
        <p:nvSpPr>
          <p:cNvPr id="8" name="Text 6"/>
          <p:cNvSpPr txBox="1"/>
          <p:nvPr/>
        </p:nvSpPr>
        <p:spPr>
          <a:xfrm>
            <a:off x="3429000" y="2011680"/>
            <a:ext cx="2286000" cy="548640"/>
          </a:xfrm>
          <a:prstGeom prst="rect">
            <a:avLst/>
          </a:prstGeom>
          <a:noFill/>
          <a:ln/>
        </p:spPr>
        <p:txBody>
          <a:bodyPr wrap="square" lIns="0" tIns="0" rIns="0" bIns="0" rtlCol="0" anchor="t"/>
          <a:lstStyle/>
          <a:p>
            <a:pPr indent="0" marL="0">
              <a:buNone/>
            </a:pPr>
            <a:r>
              <a:rPr lang="en-US" sz="1300" dirty="0">
                <a:solidFill>
                  <a:srgbClr val="C7D5DE"/>
                </a:solidFill>
                <a:latin typeface="Calibri" pitchFamily="34" charset="0"/>
                <a:ea typeface="Calibri" pitchFamily="34" charset="-122"/>
                <a:cs typeface="Calibri" pitchFamily="34" charset="-120"/>
              </a:rPr>
              <a:t>DNN + L2: fastest, 75.08% accuracy</a:t>
            </a:r>
            <a:endParaRPr lang="en-US" sz="1300" dirty="0"/>
          </a:p>
        </p:txBody>
      </p:sp>
      <p:sp>
        <p:nvSpPr>
          <p:cNvPr id="9" name="Shape 7"/>
          <p:cNvSpPr/>
          <p:nvPr/>
        </p:nvSpPr>
        <p:spPr>
          <a:xfrm>
            <a:off x="6035040" y="1280160"/>
            <a:ext cx="2560320" cy="1371600"/>
          </a:xfrm>
          <a:prstGeom prst="roundRect">
            <a:avLst>
              <a:gd name="adj" fmla="val 5333"/>
            </a:avLst>
          </a:prstGeom>
          <a:solidFill>
            <a:srgbClr val="13303F"/>
          </a:solidFill>
          <a:ln w="12700">
            <a:solidFill>
              <a:srgbClr val="13303F"/>
            </a:solidFill>
            <a:prstDash val="solid"/>
          </a:ln>
        </p:spPr>
      </p:sp>
      <p:sp>
        <p:nvSpPr>
          <p:cNvPr id="10" name="Text 8"/>
          <p:cNvSpPr txBox="1"/>
          <p:nvPr/>
        </p:nvSpPr>
        <p:spPr>
          <a:xfrm>
            <a:off x="6172200" y="1371600"/>
            <a:ext cx="2286000" cy="640080"/>
          </a:xfrm>
          <a:prstGeom prst="rect">
            <a:avLst/>
          </a:prstGeom>
          <a:noFill/>
          <a:ln/>
        </p:spPr>
        <p:txBody>
          <a:bodyPr wrap="square" lIns="0" tIns="0" rIns="0" bIns="0" rtlCol="0" anchor="ctr"/>
          <a:lstStyle/>
          <a:p>
            <a:pPr indent="0" marL="0">
              <a:buNone/>
            </a:pPr>
            <a:r>
              <a:rPr lang="en-US" sz="3000" b="1" dirty="0">
                <a:solidFill>
                  <a:srgbClr val="F2A900"/>
                </a:solidFill>
                <a:latin typeface="Cambria" pitchFamily="34" charset="0"/>
                <a:ea typeface="Cambria" pitchFamily="34" charset="-122"/>
                <a:cs typeface="Cambria" pitchFamily="34" charset="-120"/>
              </a:rPr>
              <a:t>71.05%</a:t>
            </a:r>
            <a:endParaRPr lang="en-US" sz="3000" dirty="0"/>
          </a:p>
        </p:txBody>
      </p:sp>
      <p:sp>
        <p:nvSpPr>
          <p:cNvPr id="11" name="Text 9"/>
          <p:cNvSpPr txBox="1"/>
          <p:nvPr/>
        </p:nvSpPr>
        <p:spPr>
          <a:xfrm>
            <a:off x="6172200" y="2011680"/>
            <a:ext cx="2286000" cy="548640"/>
          </a:xfrm>
          <a:prstGeom prst="rect">
            <a:avLst/>
          </a:prstGeom>
          <a:noFill/>
          <a:ln/>
        </p:spPr>
        <p:txBody>
          <a:bodyPr wrap="square" lIns="0" tIns="0" rIns="0" bIns="0" rtlCol="0" anchor="t"/>
          <a:lstStyle/>
          <a:p>
            <a:pPr indent="0" marL="0">
              <a:buNone/>
            </a:pPr>
            <a:r>
              <a:rPr lang="en-US" sz="1300" dirty="0">
                <a:solidFill>
                  <a:srgbClr val="C7D5DE"/>
                </a:solidFill>
                <a:latin typeface="Calibri" pitchFamily="34" charset="0"/>
                <a:ea typeface="Calibri" pitchFamily="34" charset="-122"/>
                <a:cs typeface="Calibri" pitchFamily="34" charset="-120"/>
              </a:rPr>
              <a:t>Transformer: best macro recall, at 3,498 s</a:t>
            </a:r>
            <a:endParaRPr lang="en-US" sz="1300" dirty="0"/>
          </a:p>
        </p:txBody>
      </p:sp>
      <p:sp>
        <p:nvSpPr>
          <p:cNvPr id="12" name="Text 10"/>
          <p:cNvSpPr txBox="1"/>
          <p:nvPr/>
        </p:nvSpPr>
        <p:spPr>
          <a:xfrm>
            <a:off x="548640" y="2971800"/>
            <a:ext cx="8046720" cy="100584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Simple feed-forward models gave the best balance of performance and cost in this experiment. Different metrics favour different architectures, so report macro metrics and cost, not accuracy alone.</a:t>
            </a:r>
            <a:endParaRPr lang="en-US" sz="1800" dirty="0"/>
          </a:p>
        </p:txBody>
      </p:sp>
      <p:sp>
        <p:nvSpPr>
          <p:cNvPr id="13" name="Text 11"/>
          <p:cNvSpPr txBox="1"/>
          <p:nvPr/>
        </p:nvSpPr>
        <p:spPr>
          <a:xfrm>
            <a:off x="548640" y="4297680"/>
            <a:ext cx="7315200" cy="365760"/>
          </a:xfrm>
          <a:prstGeom prst="rect">
            <a:avLst/>
          </a:prstGeom>
          <a:noFill/>
          <a:ln/>
        </p:spPr>
        <p:txBody>
          <a:bodyPr wrap="square" lIns="0" tIns="0" rIns="0" bIns="0" rtlCol="0" anchor="ctr"/>
          <a:lstStyle/>
          <a:p>
            <a:pPr indent="0" marL="0">
              <a:buNone/>
            </a:pPr>
            <a:r>
              <a:rPr lang="en-US" sz="1400" b="1" dirty="0">
                <a:solidFill>
                  <a:srgbClr val="1AA89A"/>
                </a:solidFill>
                <a:latin typeface="Calibri" pitchFamily="34" charset="0"/>
                <a:ea typeface="Calibri" pitchFamily="34" charset="-122"/>
                <a:cs typeface="Calibri"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IoT IDS">
  <a:themeElements>
    <a:clrScheme name="IoT IDS">
      <a:dk1>
        <a:srgbClr val="1B2733"/>
      </a:dk1>
      <a:lt1>
        <a:srgbClr val="FFFFFF"/>
      </a:lt1>
      <a:dk2>
        <a:srgbClr val="0B1F2A"/>
      </a:dk2>
      <a:lt2>
        <a:srgbClr val="F2F6F8"/>
      </a:lt2>
      <a:accent1>
        <a:srgbClr val="1AA89A"/>
      </a:accent1>
      <a:accent2>
        <a:srgbClr val="F2A900"/>
      </a:accent2>
      <a:accent3>
        <a:srgbClr val="5B6B79"/>
      </a:accent3>
      <a:accent4>
        <a:srgbClr val="3A7CA5"/>
      </a:accent4>
      <a:accent5>
        <a:srgbClr val="D1495B"/>
      </a:accent5>
      <a:accent6>
        <a:srgbClr val="8AA1B1"/>
      </a:accent6>
      <a:hlink>
        <a:srgbClr val="1AA89A"/>
      </a:hlink>
      <a:folHlink>
        <a:srgbClr val="5B6B79"/>
      </a:folHlink>
    </a:clrScheme>
    <a:fontScheme name="IoT I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Based Intrusion Detection for IoT Networks</dc:title>
  <dc:subject>PptxGenJS Presentation</dc:subject>
  <dc:creator>Namrata Kothari</dc:creator>
  <cp:lastModifiedBy>Namrata Kothari</cp:lastModifiedBy>
  <cp:revision>1</cp:revision>
  <dcterms:created xsi:type="dcterms:W3CDTF">2026-10-24T19:55:03Z</dcterms:created>
  <dcterms:modified xsi:type="dcterms:W3CDTF">2026-10-24T19:55:03Z</dcterms:modified>
</cp:coreProperties>
</file>