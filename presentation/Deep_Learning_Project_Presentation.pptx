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91440"/>
          </a:xfrm>
          <a:prstGeom prst="rect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2743200" cy="91440"/>
          </a:xfrm>
          <a:prstGeom prst="rect">
            <a:avLst/>
          </a:prstGeom>
          <a:solidFill>
            <a:srgbClr val="43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0"/>
            <a:ext cx="1828800" cy="91440"/>
          </a:xfrm>
          <a:prstGeom prst="rect">
            <a:avLst/>
          </a:prstGeom>
          <a:solidFill>
            <a:srgbClr val="7D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0"/>
            <a:ext cx="3657600" cy="91440"/>
          </a:xfrm>
          <a:prstGeom prst="rect">
            <a:avLst/>
          </a:prstGeom>
          <a:solidFill>
            <a:srgbClr val="21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89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8FC"/>
                </a:solidFill>
                <a:latin typeface="Aptos Display"/>
              </a:defRPr>
            </a:pPr>
            <a:r>
              <a:t>Deep Learning for IoT</a:t>
            </a:r>
            <a:br/>
            <a:r>
              <a:t>Intrusion Detection</a:t>
            </a:r>
          </a:p>
          <a:p>
            <a:pPr>
              <a:spcBef>
                <a:spcPts val="1000"/>
              </a:spcBef>
              <a:defRPr sz="1800">
                <a:solidFill>
                  <a:srgbClr val="43B7CF"/>
                </a:solidFill>
              </a:defRPr>
            </a:pPr>
            <a:r>
              <a:t>Comparative evaluation on the CICIoT2023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246120"/>
            <a:ext cx="3291840" cy="114300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3246120"/>
            <a:ext cx="64008" cy="1143000"/>
          </a:xfrm>
          <a:prstGeom prst="rect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392424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81304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DBCD0"/>
                </a:solidFill>
              </a:defRPr>
            </a:pPr>
            <a:r>
              <a:t>Deep learning model comparison across 7 architectures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246120"/>
            <a:ext cx="3291840" cy="114300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3246120"/>
            <a:ext cx="64008" cy="1143000"/>
          </a:xfrm>
          <a:prstGeom prst="rect">
            <a:avLst/>
          </a:prstGeom>
          <a:solidFill>
            <a:srgbClr val="43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3392424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AUTHOR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81304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DBCD0"/>
                </a:solidFill>
              </a:defRPr>
            </a:pPr>
            <a:r>
              <a:t>Namrata Kothari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4112" y="3246120"/>
            <a:ext cx="3291840" cy="114300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54112" y="3246120"/>
            <a:ext cx="64008" cy="1143000"/>
          </a:xfrm>
          <a:prstGeom prst="rect">
            <a:avLst/>
          </a:prstGeom>
          <a:solidFill>
            <a:srgbClr val="7D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3392424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INSTITUTE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81304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DBCD0"/>
                </a:solidFill>
              </a:defRPr>
            </a:pPr>
            <a:r>
              <a:t>Manipal University Jaipur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8348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Goal: identify a strong accuracy–training-cost trade-off for IoT intrusion detection.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1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CD0"/>
                </a:solidFill>
              </a:defRPr>
            </a:pPr>
            <a:r>
              <a:t>Deep Learning Project • IoT Intrusion Detection • Manipal University Jaipur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379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CD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1. Problem, Aim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BCD0"/>
                </a:solidFill>
                <a:latin typeface="Aptos"/>
              </a:defRPr>
            </a:pPr>
            <a:r>
              <a:t>Why deep learning is being evaluated for IoT intrusion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03520" cy="14173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417320"/>
          </a:xfrm>
          <a:prstGeom prst="rect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DBCD0"/>
                </a:solidFill>
              </a:defRPr>
            </a:pPr>
            <a:r>
              <a:t>IoT traffic is heterogeneous and attack patterns can be difficult to distinguish. High benchmark accuracy can also hide minority-class errors and false alarms.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5303520" cy="114300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64008" cy="1143000"/>
          </a:xfrm>
          <a:prstGeom prst="rect">
            <a:avLst/>
          </a:prstGeom>
          <a:solidFill>
            <a:srgbClr val="43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07238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93008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DBCD0"/>
                </a:solidFill>
              </a:defRPr>
            </a:pPr>
            <a:r>
              <a:t>Compare multiple deep learning architectures under the same experimental setting and identify the best-performing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51960"/>
            <a:ext cx="5303520" cy="14173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51960"/>
            <a:ext cx="64008" cy="1417320"/>
          </a:xfrm>
          <a:prstGeom prst="rect">
            <a:avLst/>
          </a:prstGeom>
          <a:solidFill>
            <a:srgbClr val="7D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39826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81888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DBCD0"/>
                </a:solidFill>
              </a:defRPr>
            </a:pPr>
            <a:r>
              <a:t>• Evaluate DNN, regularized DNNs, 1D CNN, LSTM and Transformer</a:t>
            </a:r>
            <a:br/>
            <a:r>
              <a:t>• Compare accuracy, precision, recall, F1 and specificity</a:t>
            </a:r>
            <a:br/>
            <a:r>
              <a:t>• Measure training cost and interpret the trade-off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371600"/>
            <a:ext cx="4389120" cy="685800"/>
          </a:xfrm>
          <a:prstGeom prst="roundRect">
            <a:avLst/>
          </a:prstGeom>
          <a:solidFill>
            <a:srgbClr val="15233A"/>
          </a:solidFill>
          <a:ln>
            <a:solidFill>
              <a:srgbClr val="26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1527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</a:defRPr>
            </a:pPr>
            <a:r>
              <a:t>IoT network traffic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029967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DBCD0"/>
                </a:solidFill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377440"/>
            <a:ext cx="4389120" cy="685800"/>
          </a:xfrm>
          <a:prstGeom prst="roundRect">
            <a:avLst/>
          </a:prstGeom>
          <a:solidFill>
            <a:srgbClr val="15233A"/>
          </a:solidFill>
          <a:ln>
            <a:solidFill>
              <a:srgbClr val="43B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53288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</a:defRPr>
            </a:pPr>
            <a:r>
              <a:t>Feature-based representation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03580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DBCD0"/>
                </a:solidFill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383280"/>
            <a:ext cx="4389120" cy="685800"/>
          </a:xfrm>
          <a:prstGeom prst="roundRect">
            <a:avLst/>
          </a:prstGeom>
          <a:solidFill>
            <a:srgbClr val="15233A"/>
          </a:solidFill>
          <a:ln>
            <a:solidFill>
              <a:srgbClr val="7D6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353872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</a:defRPr>
            </a:pPr>
            <a:r>
              <a:t>Deep learning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0416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DBCD0"/>
                </a:solidFill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389120"/>
            <a:ext cx="4389120" cy="685800"/>
          </a:xfrm>
          <a:prstGeom prst="roundRect">
            <a:avLst/>
          </a:prstGeom>
          <a:solidFill>
            <a:srgbClr val="15233A"/>
          </a:solidFill>
          <a:ln>
            <a:solidFill>
              <a:srgbClr val="42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54456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</a:defRPr>
            </a:pPr>
            <a:r>
              <a:t>Attack classification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1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CD0"/>
                </a:solidFill>
              </a:defRPr>
            </a:pPr>
            <a:r>
              <a:t>Deep Learning Project • IoT Intrusion Detection • Manipal University Jaipur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379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CD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2. Dataset &amp; Experimental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BCD0"/>
                </a:solidFill>
                <a:latin typeface="Aptos"/>
              </a:defRPr>
            </a:pPr>
            <a:r>
              <a:t>CICIoT2023 context and the supplied experiment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51460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53312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DBCD0"/>
                </a:solidFill>
              </a:defRPr>
            </a:pPr>
            <a:r>
              <a:t>TRAINING SAMPLES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27632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668B4"/>
                </a:solidFill>
              </a:defRPr>
            </a:pPr>
            <a:r>
              <a:t>1,073,851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34440"/>
            <a:ext cx="251460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3864" y="1353312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DBCD0"/>
                </a:solidFill>
              </a:defRPr>
            </a:pPr>
            <a:r>
              <a:t>TEST 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1627632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3B7CF"/>
                </a:solidFill>
              </a:defRPr>
            </a:pPr>
            <a:r>
              <a:t>268,463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251460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1344" y="1353312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DBCD0"/>
                </a:solidFill>
              </a:defRPr>
            </a:pPr>
            <a:r>
              <a:t>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1627632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7D60B9"/>
                </a:solidFill>
              </a:defRPr>
            </a:pPr>
            <a: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234440"/>
            <a:ext cx="251460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8824" y="1353312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DBCD0"/>
                </a:solidFill>
              </a:defRPr>
            </a:pPr>
            <a:r>
              <a:t>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1627632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2A673"/>
                </a:solidFill>
              </a:defRPr>
            </a:pPr>
            <a:r>
              <a:t>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14600"/>
            <a:ext cx="3474720" cy="1874519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514600"/>
            <a:ext cx="64008" cy="1874519"/>
          </a:xfrm>
          <a:prstGeom prst="rect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60904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DATASET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081528"/>
            <a:ext cx="31546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DBCD0"/>
                </a:solidFill>
              </a:defRPr>
            </a:pPr>
            <a:r>
              <a:t>CICIoT2023 is a modern IoT intrusion-detection benchmark. The supplied literature reports 105 IoT devices, 47 features and 34 classes including benign traffic.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514600"/>
            <a:ext cx="3474720" cy="1874519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2514600"/>
            <a:ext cx="64008" cy="1874519"/>
          </a:xfrm>
          <a:prstGeom prst="rect">
            <a:avLst/>
          </a:prstGeom>
          <a:solidFill>
            <a:srgbClr val="43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2660904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EXPERIMENT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081528"/>
            <a:ext cx="31546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DBCD0"/>
                </a:solidFill>
              </a:defRPr>
            </a:pPr>
            <a:r>
              <a:t>The project evaluates seven models using the same reported test setting and compares predictive metrics plus training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514600"/>
            <a:ext cx="3474720" cy="1874519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514600"/>
            <a:ext cx="64008" cy="1874519"/>
          </a:xfrm>
          <a:prstGeom prst="rect">
            <a:avLst/>
          </a:prstGeom>
          <a:solidFill>
            <a:srgbClr val="7D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2660904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081528"/>
            <a:ext cx="31546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DBCD0"/>
                </a:solidFill>
              </a:defRPr>
            </a:pPr>
            <a:r>
              <a:t>Accuracy • Precision • Recall • F1 Score • Specificity</a:t>
            </a:r>
            <a:br/>
            <a:r>
              <a:t>Additional metric: training time (seconds).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617720"/>
            <a:ext cx="1088136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617720"/>
            <a:ext cx="64008" cy="960120"/>
          </a:xfrm>
          <a:prstGeom prst="rect">
            <a:avLst/>
          </a:prstGeom>
          <a:solidFill>
            <a:srgbClr val="EB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764024"/>
            <a:ext cx="10561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KEY FAIRNESS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5184648"/>
            <a:ext cx="10561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DBCD0"/>
                </a:solidFill>
              </a:defRPr>
            </a:pPr>
            <a:r>
              <a:t>Published CICIoT2023 results are not directly comparable when label sets, sampling and rebalancing differ. This project therefore focuses on the controlled comparison within its own experiment.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1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CD0"/>
                </a:solidFill>
              </a:defRPr>
            </a:pPr>
            <a:r>
              <a:t>Deep Learning Project • IoT Intrusion Detection • Manipal University Jaipur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379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CD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3. Literature Review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BCD0"/>
                </a:solidFill>
                <a:latin typeface="Aptos"/>
              </a:defRPr>
            </a:pPr>
            <a:r>
              <a:t>What the supplied 20-study literature corpus shows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23444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1234440"/>
          </a:xfrm>
          <a:prstGeom prst="rect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8074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20 STUDIES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013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DBCD0"/>
                </a:solidFill>
              </a:defRPr>
            </a:pPr>
            <a:r>
              <a:t>8 reviews/surveys + 11 experimental studies + 1 benchmark.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29000" cy="123444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64008" cy="1234440"/>
          </a:xfrm>
          <a:prstGeom prst="rect">
            <a:avLst/>
          </a:prstGeom>
          <a:solidFill>
            <a:srgbClr val="43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38074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CICIoT2023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013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DBCD0"/>
                </a:solidFill>
              </a:defRPr>
            </a:pPr>
            <a:r>
              <a:t>10 of 11 experimental studies use CICIoT2023, making it the main benchmark in the corpus.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29000" cy="123444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64008" cy="1234440"/>
          </a:xfrm>
          <a:prstGeom prst="rect">
            <a:avLst/>
          </a:prstGeom>
          <a:solidFill>
            <a:srgbClr val="D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38074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MAIN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013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DBCD0"/>
                </a:solidFill>
              </a:defRPr>
            </a:pPr>
            <a:r>
              <a:t>Accuracy alone can hide rare-class failure under severe imbalance.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88920"/>
            <a:ext cx="64008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Enhanced LSTM: 98.58% on a 34-class CICIoT2023 setup (Meena &amp; Indian).</a:t>
            </a:r>
          </a:p>
          <a:p>
            <a:pPr>
              <a:spcAft>
                <a:spcPts val="5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LSTM: 96.02% on six harmonised classes across CICIoT2023 + IoT-23 (Imran et al.).</a:t>
            </a:r>
          </a:p>
          <a:p>
            <a:pPr>
              <a:spcAft>
                <a:spcPts val="5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CatBoost: 99.96% on 20 classes with feature selection and class weighting (Hajjouz &amp; Avksentieva).</a:t>
            </a:r>
          </a:p>
          <a:p>
            <a:pPr>
              <a:spcAft>
                <a:spcPts val="5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Natural-imbalance 34-class experiment: 76.88% accuracy and 0.54 macro-F1 (Kwari &amp; Rajkumar).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743200"/>
            <a:ext cx="3886200" cy="269748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3800" y="2743200"/>
            <a:ext cx="64008" cy="2697480"/>
          </a:xfrm>
          <a:prstGeom prst="rect">
            <a:avLst/>
          </a:prstGeom>
          <a:solidFill>
            <a:srgbClr val="7D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2889504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RESEARCH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3310128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DBCD0"/>
                </a:solidFill>
              </a:defRPr>
            </a:pPr>
            <a:r>
              <a:t>• Cross-dataset generalisation</a:t>
            </a:r>
            <a:br/>
            <a:r>
              <a:t>• Adversarial robustness</a:t>
            </a:r>
            <a:br/>
            <a:r>
              <a:t>• Quantified XAI</a:t>
            </a:r>
            <a:br/>
            <a:r>
              <a:t>• Privacy-preserving validation</a:t>
            </a:r>
            <a:br/>
            <a:r>
              <a:t>• Production / streaming 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1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CD0"/>
                </a:solidFill>
              </a:defRPr>
            </a:pPr>
            <a:r>
              <a:t>Deep Learning Project • IoT Intrusion Detection • Manipal University Jaipur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379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CD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4. Deep Learning Models Evaluated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BCD0"/>
                </a:solidFill>
                <a:latin typeface="Aptos"/>
              </a:defRPr>
            </a:pPr>
            <a:r>
              <a:t>Seven architectures, from feed-forward networks to attention-based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971800" cy="11887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1188720"/>
          </a:xfrm>
          <a:prstGeom prst="rect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8074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DNN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0136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DBCD0"/>
                </a:solidFill>
              </a:defRPr>
            </a:pPr>
            <a:r>
              <a:t>Fully connected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234440"/>
            <a:ext cx="2971800" cy="11887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1234440"/>
            <a:ext cx="64008" cy="1188720"/>
          </a:xfrm>
          <a:prstGeom prst="rect">
            <a:avLst/>
          </a:prstGeom>
          <a:solidFill>
            <a:srgbClr val="43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38074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DNN + Dropout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180136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DBCD0"/>
                </a:solidFill>
              </a:defRPr>
            </a:pPr>
            <a:r>
              <a:t>Regularisation by randomly dropping units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234440"/>
            <a:ext cx="2971800" cy="11887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1234440"/>
            <a:ext cx="64008" cy="1188720"/>
          </a:xfrm>
          <a:prstGeom prst="rect">
            <a:avLst/>
          </a:prstGeom>
          <a:solidFill>
            <a:srgbClr val="42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138074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DNN + 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180136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DBCD0"/>
                </a:solidFill>
              </a:defRPr>
            </a:pPr>
            <a:r>
              <a:t>Weight-penalty regularisation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43200"/>
            <a:ext cx="2971800" cy="11887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43200"/>
            <a:ext cx="64008" cy="1188720"/>
          </a:xfrm>
          <a:prstGeom prst="rect">
            <a:avLst/>
          </a:prstGeom>
          <a:solidFill>
            <a:srgbClr val="7D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88950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Proposed DNN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3101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DBCD0"/>
                </a:solidFill>
              </a:defRPr>
            </a:pPr>
            <a:r>
              <a:t>Project-specific DNN variant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2743200"/>
            <a:ext cx="2971800" cy="11887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2743200"/>
            <a:ext cx="64008" cy="1188720"/>
          </a:xfrm>
          <a:prstGeom prst="rect">
            <a:avLst/>
          </a:prstGeom>
          <a:solidFill>
            <a:srgbClr val="EB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288950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1D CNN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33101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DBCD0"/>
                </a:solidFill>
              </a:defRPr>
            </a:pPr>
            <a:r>
              <a:t>Learns local patterns across feature sequences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2743200"/>
            <a:ext cx="2971800" cy="11887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79" y="2743200"/>
            <a:ext cx="64008" cy="1188720"/>
          </a:xfrm>
          <a:prstGeom prst="rect">
            <a:avLst/>
          </a:prstGeom>
          <a:solidFill>
            <a:srgbClr val="D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288950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LSTM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33101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DBCD0"/>
                </a:solidFill>
              </a:defRPr>
            </a:pPr>
            <a:r>
              <a:t>Sequence model with memory gates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9080" y="4251960"/>
            <a:ext cx="2971800" cy="11887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69080" y="4251960"/>
            <a:ext cx="64008" cy="1188720"/>
          </a:xfrm>
          <a:prstGeom prst="rect">
            <a:avLst/>
          </a:prstGeom>
          <a:solidFill>
            <a:srgbClr val="43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0248" y="439826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Transformer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0248" y="48188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DBCD0"/>
                </a:solidFill>
              </a:defRPr>
            </a:pPr>
            <a:r>
              <a:t>Self-attention based sequence 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251960"/>
            <a:ext cx="2971800" cy="11887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251960"/>
            <a:ext cx="64008" cy="1188720"/>
          </a:xfrm>
          <a:prstGeom prst="rect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439826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DESIGN LOGIC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48188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DBCD0"/>
                </a:solidFill>
              </a:defRPr>
            </a:pPr>
            <a:r>
              <a:t>Start with DNN baseline → test regularisation → test CNN / sequence architectures.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4251960"/>
            <a:ext cx="2971800" cy="11887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79" y="4251960"/>
            <a:ext cx="64008" cy="1188720"/>
          </a:xfrm>
          <a:prstGeom prst="rect">
            <a:avLst/>
          </a:prstGeom>
          <a:solidFill>
            <a:srgbClr val="42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9248" y="439826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COMPARISON PRINCIPLE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48188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DBCD0"/>
                </a:solidFill>
              </a:defRPr>
            </a:pPr>
            <a:r>
              <a:t>Same reported metrics across models; training time added to assess efficiency.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1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CD0"/>
                </a:solidFill>
              </a:defRPr>
            </a:pPr>
            <a:r>
              <a:t>Deep Learning Project • IoT Intrusion Detection • Manipal University Jaipur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379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CD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5. Experimental Results: 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BCD0"/>
                </a:solidFill>
                <a:latin typeface="Aptos"/>
              </a:defRPr>
            </a:pPr>
            <a:r>
              <a:t>1D CNN is the performance leader in the supplied experiment</a:t>
            </a:r>
          </a:p>
        </p:txBody>
      </p:sp>
      <p:pic>
        <p:nvPicPr>
          <p:cNvPr id="5" name="Picture 4" descr="mode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12280" cy="3784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325880"/>
            <a:ext cx="356616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81544" y="1444752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DBCD0"/>
                </a:solidFill>
              </a:defRPr>
            </a:pPr>
            <a:r>
              <a:t>BEST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1544" y="1719072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3B7CF"/>
                </a:solidFill>
              </a:defRPr>
            </a:pPr>
            <a:r>
              <a:t>75.74%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514600"/>
            <a:ext cx="356616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1544" y="2633472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DBCD0"/>
                </a:solidFill>
              </a:defRPr>
            </a:pPr>
            <a:r>
              <a:t>BEST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1544" y="2907792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668B4"/>
                </a:solidFill>
              </a:defRPr>
            </a:pPr>
            <a:r>
              <a:t>64.94%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703320"/>
            <a:ext cx="356616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81544" y="3822191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DBCD0"/>
                </a:solidFill>
              </a:defRPr>
            </a:pPr>
            <a:r>
              <a:t>BEST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4096511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2A673"/>
                </a:solidFill>
              </a:defRPr>
            </a:pPr>
            <a:r>
              <a:t>70.49%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892040"/>
            <a:ext cx="356616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81544" y="5010912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DBCD0"/>
                </a:solidFill>
              </a:defRPr>
            </a:pPr>
            <a:r>
              <a:t>BEST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5285231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7D60B9"/>
                </a:solidFill>
              </a:defRPr>
            </a:pPr>
            <a:r>
              <a:t>63.77%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1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CD0"/>
                </a:solidFill>
              </a:defRPr>
            </a:pPr>
            <a:r>
              <a:t>Deep Learning Project • IoT Intrusion Detection • Manipal University Jaipur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CD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6. Training Cost &amp; Performance–Efficiency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BCD0"/>
                </a:solidFill>
                <a:latin typeface="Aptos"/>
              </a:defRPr>
            </a:pPr>
            <a:r>
              <a:t>Predictive strength and computational cost do not move together</a:t>
            </a:r>
          </a:p>
        </p:txBody>
      </p:sp>
      <p:pic>
        <p:nvPicPr>
          <p:cNvPr id="5" name="Picture 4" descr="training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766560" cy="375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280160"/>
            <a:ext cx="3657600" cy="11887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1280160"/>
            <a:ext cx="64008" cy="1188720"/>
          </a:xfrm>
          <a:prstGeom prst="rect">
            <a:avLst/>
          </a:prstGeom>
          <a:solidFill>
            <a:srgbClr val="42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0688" y="1426463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FASTEST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18470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DBCD0"/>
                </a:solidFill>
              </a:defRPr>
            </a:pPr>
            <a:r>
              <a:t>DNN + L2 — 27.66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697480"/>
            <a:ext cx="3657600" cy="11887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2697480"/>
            <a:ext cx="64008" cy="1188720"/>
          </a:xfrm>
          <a:prstGeom prst="rect">
            <a:avLst/>
          </a:prstGeom>
          <a:solidFill>
            <a:srgbClr val="43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2843784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STRONG SPEED/PERFORMANCE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326440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DBCD0"/>
                </a:solidFill>
              </a:defRPr>
            </a:pPr>
            <a:r>
              <a:t>Base DNN — 75.30% accuracy in 32.37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114800"/>
            <a:ext cx="3657600" cy="14173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4114800"/>
            <a:ext cx="64008" cy="1417320"/>
          </a:xfrm>
          <a:prstGeom prst="rect">
            <a:avLst/>
          </a:prstGeom>
          <a:solidFill>
            <a:srgbClr val="EB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4261104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COSTLY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4681728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DBCD0"/>
                </a:solidFill>
              </a:defRPr>
            </a:pPr>
            <a:r>
              <a:t>1D CNN — 305.55 s</a:t>
            </a:r>
            <a:br/>
            <a:r>
              <a:t>LSTM — 240.64 s</a:t>
            </a:r>
            <a:br/>
            <a:r>
              <a:t>Transformer — 889.91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1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CD0"/>
                </a:solidFill>
              </a:defRPr>
            </a:pPr>
            <a:r>
              <a:t>Deep Learning Project • IoT Intrusion Detection • Manipal University Jaipur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CD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7. Comparison with State of the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BCD0"/>
                </a:solidFill>
                <a:latin typeface="Aptos"/>
              </a:defRPr>
            </a:pPr>
            <a:r>
              <a:t>Published CICIoT2023 results provide context, but task definitions differ</a:t>
            </a:r>
          </a:p>
        </p:txBody>
      </p:sp>
      <p:pic>
        <p:nvPicPr>
          <p:cNvPr id="5" name="Picture 4" descr="litera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903720" cy="3835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234440"/>
            <a:ext cx="3657600" cy="132588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234440"/>
            <a:ext cx="64008" cy="1325880"/>
          </a:xfrm>
          <a:prstGeom prst="rect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1380744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WHY THE GAP?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180136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DBCD0"/>
                </a:solidFill>
              </a:defRPr>
            </a:pPr>
            <a:r>
              <a:t>Literature reports up to 99.995% on binary or simplified tasks, while this experiment uses 8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743200"/>
            <a:ext cx="3657600" cy="132588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743200"/>
            <a:ext cx="64008" cy="1325880"/>
          </a:xfrm>
          <a:prstGeom prst="rect">
            <a:avLst/>
          </a:prstGeom>
          <a:solidFill>
            <a:srgbClr val="EB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889504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NOT APPLES-TO-APPLES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331012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DBCD0"/>
                </a:solidFill>
              </a:defRPr>
            </a:pPr>
            <a:r>
              <a:t>Label granularity, sample size, rebalancing and train/test design strongly affect reported accuracy.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251960"/>
            <a:ext cx="3657600" cy="132588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4251960"/>
            <a:ext cx="64008" cy="1325880"/>
          </a:xfrm>
          <a:prstGeom prst="rect">
            <a:avLst/>
          </a:prstGeom>
          <a:solidFill>
            <a:srgbClr val="42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4398264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PROJECT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481888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DBCD0"/>
                </a:solidFill>
              </a:defRPr>
            </a:pPr>
            <a:r>
              <a:t>The contribution is a controlled comparison of seven deep models under one experiment, rather than a claim of SOTA accuracy.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1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CD0"/>
                </a:solidFill>
              </a:defRPr>
            </a:pPr>
            <a:r>
              <a:t>Deep Learning Project • IoT Intrusion Detection • Manipal University Jaipur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CD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8. Key Findings,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BCD0"/>
                </a:solidFill>
                <a:latin typeface="Aptos"/>
              </a:defRPr>
            </a:pPr>
            <a:r>
              <a:t>What the experiment tells us — and what it does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74720" cy="1874519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1874519"/>
          </a:xfrm>
          <a:prstGeom prst="rect">
            <a:avLst/>
          </a:prstGeom>
          <a:solidFill>
            <a:srgbClr val="43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80744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01368"/>
            <a:ext cx="31546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DBCD0"/>
                </a:solidFill>
              </a:defRPr>
            </a:pPr>
            <a:r>
              <a:t>• 1D CNN ranks first on all reported predictive metrics.</a:t>
            </a:r>
            <a:br/>
            <a:r>
              <a:t>• Base DNN offers a strong efficiency alternative.</a:t>
            </a:r>
            <a:br/>
            <a:r>
              <a:t>• Regularisation variants did not improve test accuracy.</a:t>
            </a:r>
            <a:br/>
            <a:r>
              <a:t>• LSTM and Transformer underperformed here despite higher computational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1874519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64008" cy="1874519"/>
          </a:xfrm>
          <a:prstGeom prst="rect">
            <a:avLst/>
          </a:prstGeom>
          <a:solidFill>
            <a:srgbClr val="D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380744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01368"/>
            <a:ext cx="31546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DBCD0"/>
                </a:solidFill>
              </a:defRPr>
            </a:pPr>
            <a:r>
              <a:t>• Results are tied to the supplied 8-class experiment.</a:t>
            </a:r>
            <a:br/>
            <a:r>
              <a:t>• No claim of production readiness.</a:t>
            </a:r>
            <a:br/>
            <a:r>
              <a:t>• Literature comparisons use different setups.</a:t>
            </a:r>
            <a:br/>
            <a:r>
              <a:t>• No adversarial or cross-dataset validation in this experiment.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74720" cy="1874519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64008" cy="1874519"/>
          </a:xfrm>
          <a:prstGeom prst="rect">
            <a:avLst/>
          </a:prstGeom>
          <a:solidFill>
            <a:srgbClr val="7D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380744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01368"/>
            <a:ext cx="31546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DBCD0"/>
                </a:solidFill>
              </a:defRPr>
            </a:pPr>
            <a:r>
              <a:t>• Class-imbalance-aware training</a:t>
            </a:r>
            <a:br/>
            <a:r>
              <a:t>• Cross-dataset testing</a:t>
            </a:r>
            <a:br/>
            <a:r>
              <a:t>• Explainability with SHAP/LIME</a:t>
            </a:r>
            <a:br/>
            <a:r>
              <a:t>• Adversarial robustness</a:t>
            </a:r>
            <a:br/>
            <a:r>
              <a:t>• Edge deployment and latency benchmarking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10881360" cy="114300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64008" cy="1143000"/>
          </a:xfrm>
          <a:prstGeom prst="rect">
            <a:avLst/>
          </a:prstGeom>
          <a:solidFill>
            <a:srgbClr val="42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575304"/>
            <a:ext cx="10561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CENTRAL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995928"/>
            <a:ext cx="10561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DBCD0"/>
                </a:solidFill>
              </a:defRPr>
            </a:pPr>
            <a:r>
              <a:t>For this experiment, 1D CNN provides the best predictive performance, while DNN-based models provide much lower training cost. The practical choice depends on the required accuracy–efficiency balance.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46320"/>
            <a:ext cx="1088136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846320"/>
            <a:ext cx="64008" cy="960120"/>
          </a:xfrm>
          <a:prstGeom prst="rect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992624"/>
            <a:ext cx="10561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ACCURACY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413248"/>
            <a:ext cx="10561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DBCD0"/>
                </a:solidFill>
              </a:defRPr>
            </a:pPr>
            <a:r>
              <a:t>1D CNN 75.74%  ›  DNN 75.30%  ›  Dropout 75.21%  ›  Proposed DNN 74.46%  ›  DNN+L2 73.88%  ›  Transformer 63.90%  ›  LSTM 54.58%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1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CD0"/>
                </a:solidFill>
              </a:defRPr>
            </a:pPr>
            <a:r>
              <a:t>Deep Learning Project • IoT Intrusion Detection • Manipal University Jaipur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379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CD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C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The project demonstrates how deep learning architectures can be systematically compared for IoT intrusion detection.</a:t>
            </a:r>
          </a:p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Across the supplied experiment, 1D CNN achieved the highest accuracy (75.74%), precision (64.94%), recall (70.49%), F1 (63.77%) and specificity (96.55%).</a:t>
            </a:r>
          </a:p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DNN + L2 was the fastest model to train at 27.66 seconds, while the Transformer required 889.91 seconds.</a:t>
            </a:r>
          </a:p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Literature evidence shows that very high CICIoT2023 accuracy is strongly dependent on task definition, class granularity and balancing strategy.</a:t>
            </a:r>
          </a:p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The most meaningful next step is robust, imbalance-aware and cross-dataset evaluation rather than chasing small gains in headline accuracy.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166360"/>
            <a:ext cx="10149840" cy="685800"/>
          </a:xfrm>
          <a:prstGeom prst="roundRect">
            <a:avLst/>
          </a:prstGeom>
          <a:solidFill>
            <a:srgbClr val="15233A"/>
          </a:solidFill>
          <a:ln>
            <a:solidFill>
              <a:srgbClr val="32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166360"/>
            <a:ext cx="64008" cy="685800"/>
          </a:xfrm>
          <a:prstGeom prst="rect">
            <a:avLst/>
          </a:prstGeom>
          <a:solidFill>
            <a:srgbClr val="43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5312664"/>
            <a:ext cx="9829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5733288"/>
            <a:ext cx="98298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DBCD0"/>
                </a:solidFill>
              </a:defRPr>
            </a:pPr>
            <a:r>
              <a:t>Questions &amp;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1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CD0"/>
                </a:solidFill>
              </a:defRPr>
            </a:pPr>
            <a:r>
              <a:t>Deep Learning Project • IoT Intrusion Detection • Manipal University Jaipur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379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CD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